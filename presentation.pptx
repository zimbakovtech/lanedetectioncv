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0" r:id="rId3"/>
    <p:sldId id="274" r:id="rId4"/>
    <p:sldId id="257" r:id="rId5"/>
    <p:sldId id="271" r:id="rId6"/>
    <p:sldId id="280" r:id="rId7"/>
    <p:sldId id="277" r:id="rId8"/>
    <p:sldId id="272" r:id="rId9"/>
    <p:sldId id="279" r:id="rId10"/>
    <p:sldId id="273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41" autoAdjust="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OpenCV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IoU</c:v>
                </c:pt>
                <c:pt idx="1">
                  <c:v>PixelAcc</c:v>
                </c:pt>
                <c:pt idx="2">
                  <c:v>Precision</c:v>
                </c:pt>
                <c:pt idx="3">
                  <c:v>Recall</c:v>
                </c:pt>
                <c:pt idx="4">
                  <c:v>F1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0.52</c:v>
                </c:pt>
                <c:pt idx="1">
                  <c:v>0.95</c:v>
                </c:pt>
                <c:pt idx="2">
                  <c:v>0.61</c:v>
                </c:pt>
                <c:pt idx="3">
                  <c:v>0.52</c:v>
                </c:pt>
                <c:pt idx="4">
                  <c:v>0.54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9D-4B25-855F-864CDDCFB7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U-Net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IoU</c:v>
                </c:pt>
                <c:pt idx="1">
                  <c:v>PixelAcc</c:v>
                </c:pt>
                <c:pt idx="2">
                  <c:v>Precision</c:v>
                </c:pt>
                <c:pt idx="3">
                  <c:v>Recall</c:v>
                </c:pt>
                <c:pt idx="4">
                  <c:v>F1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0.68</c:v>
                </c:pt>
                <c:pt idx="1">
                  <c:v>0.94</c:v>
                </c:pt>
                <c:pt idx="2">
                  <c:v>0.77</c:v>
                </c:pt>
                <c:pt idx="3">
                  <c:v>0.73</c:v>
                </c:pt>
                <c:pt idx="4">
                  <c:v>0.79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9D-4B25-855F-864CDDCFB7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32386511"/>
        <c:axId val="1532384591"/>
      </c:barChart>
      <c:catAx>
        <c:axId val="153238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2384591"/>
        <c:crosses val="autoZero"/>
        <c:auto val="1"/>
        <c:lblAlgn val="ctr"/>
        <c:lblOffset val="100"/>
        <c:noMultiLvlLbl val="0"/>
      </c:catAx>
      <c:valAx>
        <c:axId val="1532384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238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D8020F-8599-49EF-97BF-D03A7943AE4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C8734E6-D7FC-437D-A8E6-C14B5A0A7F96}">
      <dgm:prSet/>
      <dgm:spPr/>
      <dgm:t>
        <a:bodyPr/>
        <a:lstStyle/>
        <a:p>
          <a:r>
            <a:rPr lang="mk-MK" noProof="0" dirty="0"/>
            <a:t>• Извори: локални видеа (road_video_1..5); опционално TuSimple, CULane, BDD100K.</a:t>
          </a:r>
        </a:p>
      </dgm:t>
    </dgm:pt>
    <dgm:pt modelId="{7E25B896-CF45-4A81-8390-694BD9BAEE91}" type="parTrans" cxnId="{96CBAAEA-529F-4640-A436-A31BBA13692A}">
      <dgm:prSet/>
      <dgm:spPr/>
      <dgm:t>
        <a:bodyPr/>
        <a:lstStyle/>
        <a:p>
          <a:endParaRPr lang="en-US"/>
        </a:p>
      </dgm:t>
    </dgm:pt>
    <dgm:pt modelId="{FD69095C-51D7-4C10-808C-48442C3DA5C6}" type="sibTrans" cxnId="{96CBAAEA-529F-4640-A436-A31BBA13692A}">
      <dgm:prSet/>
      <dgm:spPr/>
      <dgm:t>
        <a:bodyPr/>
        <a:lstStyle/>
        <a:p>
          <a:endParaRPr lang="en-US"/>
        </a:p>
      </dgm:t>
    </dgm:pt>
    <dgm:pt modelId="{7A323958-B864-4661-B251-5507403A1970}">
      <dgm:prSet/>
      <dgm:spPr/>
      <dgm:t>
        <a:bodyPr/>
        <a:lstStyle/>
        <a:p>
          <a:r>
            <a:rPr lang="mk-MK" noProof="0" dirty="0"/>
            <a:t>• Сплитови: train/val/test; ground-truth: binary lane masks (или псевдо-маски од OpenCV).</a:t>
          </a:r>
        </a:p>
      </dgm:t>
    </dgm:pt>
    <dgm:pt modelId="{029C3E54-FDB7-4E1A-B0A6-0FEB5B492B82}" type="parTrans" cxnId="{9E69D535-0B3C-47DA-A399-DB1EC488C4CC}">
      <dgm:prSet/>
      <dgm:spPr/>
      <dgm:t>
        <a:bodyPr/>
        <a:lstStyle/>
        <a:p>
          <a:endParaRPr lang="en-US"/>
        </a:p>
      </dgm:t>
    </dgm:pt>
    <dgm:pt modelId="{B16A56B1-1C98-4F03-8740-3D76FB428E06}" type="sibTrans" cxnId="{9E69D535-0B3C-47DA-A399-DB1EC488C4CC}">
      <dgm:prSet/>
      <dgm:spPr/>
      <dgm:t>
        <a:bodyPr/>
        <a:lstStyle/>
        <a:p>
          <a:endParaRPr lang="en-US"/>
        </a:p>
      </dgm:t>
    </dgm:pt>
    <dgm:pt modelId="{9455D1E0-BED7-40EB-9F24-BD34BAB68160}">
      <dgm:prSet/>
      <dgm:spPr/>
      <dgm:t>
        <a:bodyPr/>
        <a:lstStyle/>
        <a:p>
          <a:r>
            <a:rPr lang="mk-MK" noProof="0" dirty="0"/>
            <a:t>• Претпроцесирање: екстракција на кадри, resize (256×512), нормализација, аугментации.</a:t>
          </a:r>
        </a:p>
      </dgm:t>
    </dgm:pt>
    <dgm:pt modelId="{913F2BCD-C9B2-4CE7-8DDF-F5E19DB67A53}" type="parTrans" cxnId="{F333B3EF-AFFD-4C1A-8732-D526E308B395}">
      <dgm:prSet/>
      <dgm:spPr/>
      <dgm:t>
        <a:bodyPr/>
        <a:lstStyle/>
        <a:p>
          <a:endParaRPr lang="en-US"/>
        </a:p>
      </dgm:t>
    </dgm:pt>
    <dgm:pt modelId="{6CFF5849-E3BF-4D8B-91C8-243DF9F7DCD6}" type="sibTrans" cxnId="{F333B3EF-AFFD-4C1A-8732-D526E308B395}">
      <dgm:prSet/>
      <dgm:spPr/>
      <dgm:t>
        <a:bodyPr/>
        <a:lstStyle/>
        <a:p>
          <a:endParaRPr lang="en-US"/>
        </a:p>
      </dgm:t>
    </dgm:pt>
    <dgm:pt modelId="{B6AFE68E-18D6-4F22-BC37-DB00A0EEB6A4}" type="pres">
      <dgm:prSet presAssocID="{AAD8020F-8599-49EF-97BF-D03A7943AE45}" presName="vert0" presStyleCnt="0">
        <dgm:presLayoutVars>
          <dgm:dir/>
          <dgm:animOne val="branch"/>
          <dgm:animLvl val="lvl"/>
        </dgm:presLayoutVars>
      </dgm:prSet>
      <dgm:spPr/>
    </dgm:pt>
    <dgm:pt modelId="{4E820B8F-1E12-42E6-91EE-3FC825A3382B}" type="pres">
      <dgm:prSet presAssocID="{0C8734E6-D7FC-437D-A8E6-C14B5A0A7F96}" presName="thickLine" presStyleLbl="alignNode1" presStyleIdx="0" presStyleCnt="3"/>
      <dgm:spPr/>
    </dgm:pt>
    <dgm:pt modelId="{15DE1F84-91E1-4EAE-A719-B4EBCA8E3DEB}" type="pres">
      <dgm:prSet presAssocID="{0C8734E6-D7FC-437D-A8E6-C14B5A0A7F96}" presName="horz1" presStyleCnt="0"/>
      <dgm:spPr/>
    </dgm:pt>
    <dgm:pt modelId="{5ED7778C-BA6D-4186-BFBE-083C65A1FFB9}" type="pres">
      <dgm:prSet presAssocID="{0C8734E6-D7FC-437D-A8E6-C14B5A0A7F96}" presName="tx1" presStyleLbl="revTx" presStyleIdx="0" presStyleCnt="3"/>
      <dgm:spPr/>
    </dgm:pt>
    <dgm:pt modelId="{6356FFB5-4EB7-404E-BB99-76977C309C86}" type="pres">
      <dgm:prSet presAssocID="{0C8734E6-D7FC-437D-A8E6-C14B5A0A7F96}" presName="vert1" presStyleCnt="0"/>
      <dgm:spPr/>
    </dgm:pt>
    <dgm:pt modelId="{6783B267-3399-4094-B40A-A05E1A3C6F2B}" type="pres">
      <dgm:prSet presAssocID="{7A323958-B864-4661-B251-5507403A1970}" presName="thickLine" presStyleLbl="alignNode1" presStyleIdx="1" presStyleCnt="3"/>
      <dgm:spPr/>
    </dgm:pt>
    <dgm:pt modelId="{04B77FE4-0BF6-4E97-8DAD-E5F2001C805B}" type="pres">
      <dgm:prSet presAssocID="{7A323958-B864-4661-B251-5507403A1970}" presName="horz1" presStyleCnt="0"/>
      <dgm:spPr/>
    </dgm:pt>
    <dgm:pt modelId="{B8A90383-C826-4F73-BB1D-970C435A5229}" type="pres">
      <dgm:prSet presAssocID="{7A323958-B864-4661-B251-5507403A1970}" presName="tx1" presStyleLbl="revTx" presStyleIdx="1" presStyleCnt="3"/>
      <dgm:spPr/>
    </dgm:pt>
    <dgm:pt modelId="{C560E1E3-85E8-4209-A28E-F23B417F5C37}" type="pres">
      <dgm:prSet presAssocID="{7A323958-B864-4661-B251-5507403A1970}" presName="vert1" presStyleCnt="0"/>
      <dgm:spPr/>
    </dgm:pt>
    <dgm:pt modelId="{C3CCC8E6-B09F-49CF-857B-304AE0E9CC64}" type="pres">
      <dgm:prSet presAssocID="{9455D1E0-BED7-40EB-9F24-BD34BAB68160}" presName="thickLine" presStyleLbl="alignNode1" presStyleIdx="2" presStyleCnt="3"/>
      <dgm:spPr/>
    </dgm:pt>
    <dgm:pt modelId="{C7616CB5-BD68-4AA6-8F05-BE11C41F0A77}" type="pres">
      <dgm:prSet presAssocID="{9455D1E0-BED7-40EB-9F24-BD34BAB68160}" presName="horz1" presStyleCnt="0"/>
      <dgm:spPr/>
    </dgm:pt>
    <dgm:pt modelId="{4E5440D4-3F0D-4150-A71F-BB18CF931659}" type="pres">
      <dgm:prSet presAssocID="{9455D1E0-BED7-40EB-9F24-BD34BAB68160}" presName="tx1" presStyleLbl="revTx" presStyleIdx="2" presStyleCnt="3"/>
      <dgm:spPr/>
    </dgm:pt>
    <dgm:pt modelId="{F1992CAE-BC48-4212-BFD4-C43510B4ED67}" type="pres">
      <dgm:prSet presAssocID="{9455D1E0-BED7-40EB-9F24-BD34BAB68160}" presName="vert1" presStyleCnt="0"/>
      <dgm:spPr/>
    </dgm:pt>
  </dgm:ptLst>
  <dgm:cxnLst>
    <dgm:cxn modelId="{EE41FE15-CF92-47F5-8B10-7EEDA29C6A53}" type="presOf" srcId="{9455D1E0-BED7-40EB-9F24-BD34BAB68160}" destId="{4E5440D4-3F0D-4150-A71F-BB18CF931659}" srcOrd="0" destOrd="0" presId="urn:microsoft.com/office/officeart/2008/layout/LinedList"/>
    <dgm:cxn modelId="{9E69D535-0B3C-47DA-A399-DB1EC488C4CC}" srcId="{AAD8020F-8599-49EF-97BF-D03A7943AE45}" destId="{7A323958-B864-4661-B251-5507403A1970}" srcOrd="1" destOrd="0" parTransId="{029C3E54-FDB7-4E1A-B0A6-0FEB5B492B82}" sibTransId="{B16A56B1-1C98-4F03-8740-3D76FB428E06}"/>
    <dgm:cxn modelId="{8F1ABA8B-46A9-4C74-9187-7B369D4100DC}" type="presOf" srcId="{0C8734E6-D7FC-437D-A8E6-C14B5A0A7F96}" destId="{5ED7778C-BA6D-4186-BFBE-083C65A1FFB9}" srcOrd="0" destOrd="0" presId="urn:microsoft.com/office/officeart/2008/layout/LinedList"/>
    <dgm:cxn modelId="{7A5168DF-DF48-4025-B948-2FF45F74F959}" type="presOf" srcId="{AAD8020F-8599-49EF-97BF-D03A7943AE45}" destId="{B6AFE68E-18D6-4F22-BC37-DB00A0EEB6A4}" srcOrd="0" destOrd="0" presId="urn:microsoft.com/office/officeart/2008/layout/LinedList"/>
    <dgm:cxn modelId="{96CBAAEA-529F-4640-A436-A31BBA13692A}" srcId="{AAD8020F-8599-49EF-97BF-D03A7943AE45}" destId="{0C8734E6-D7FC-437D-A8E6-C14B5A0A7F96}" srcOrd="0" destOrd="0" parTransId="{7E25B896-CF45-4A81-8390-694BD9BAEE91}" sibTransId="{FD69095C-51D7-4C10-808C-48442C3DA5C6}"/>
    <dgm:cxn modelId="{F333B3EF-AFFD-4C1A-8732-D526E308B395}" srcId="{AAD8020F-8599-49EF-97BF-D03A7943AE45}" destId="{9455D1E0-BED7-40EB-9F24-BD34BAB68160}" srcOrd="2" destOrd="0" parTransId="{913F2BCD-C9B2-4CE7-8DDF-F5E19DB67A53}" sibTransId="{6CFF5849-E3BF-4D8B-91C8-243DF9F7DCD6}"/>
    <dgm:cxn modelId="{11F70AFB-1A4C-432C-9918-F8983D2F49FB}" type="presOf" srcId="{7A323958-B864-4661-B251-5507403A1970}" destId="{B8A90383-C826-4F73-BB1D-970C435A5229}" srcOrd="0" destOrd="0" presId="urn:microsoft.com/office/officeart/2008/layout/LinedList"/>
    <dgm:cxn modelId="{F31441B1-B34B-47E1-A7D7-11DAAB99A84B}" type="presParOf" srcId="{B6AFE68E-18D6-4F22-BC37-DB00A0EEB6A4}" destId="{4E820B8F-1E12-42E6-91EE-3FC825A3382B}" srcOrd="0" destOrd="0" presId="urn:microsoft.com/office/officeart/2008/layout/LinedList"/>
    <dgm:cxn modelId="{208D6C1A-9C80-488C-94C0-1D45010EC5D2}" type="presParOf" srcId="{B6AFE68E-18D6-4F22-BC37-DB00A0EEB6A4}" destId="{15DE1F84-91E1-4EAE-A719-B4EBCA8E3DEB}" srcOrd="1" destOrd="0" presId="urn:microsoft.com/office/officeart/2008/layout/LinedList"/>
    <dgm:cxn modelId="{C23480A1-BA7A-4814-823D-DD39AE30AE23}" type="presParOf" srcId="{15DE1F84-91E1-4EAE-A719-B4EBCA8E3DEB}" destId="{5ED7778C-BA6D-4186-BFBE-083C65A1FFB9}" srcOrd="0" destOrd="0" presId="urn:microsoft.com/office/officeart/2008/layout/LinedList"/>
    <dgm:cxn modelId="{35FF5403-C00C-40C8-A339-4EA539BDC7F1}" type="presParOf" srcId="{15DE1F84-91E1-4EAE-A719-B4EBCA8E3DEB}" destId="{6356FFB5-4EB7-404E-BB99-76977C309C86}" srcOrd="1" destOrd="0" presId="urn:microsoft.com/office/officeart/2008/layout/LinedList"/>
    <dgm:cxn modelId="{BD8BAE1E-FF82-46AC-949C-9042480C0F9D}" type="presParOf" srcId="{B6AFE68E-18D6-4F22-BC37-DB00A0EEB6A4}" destId="{6783B267-3399-4094-B40A-A05E1A3C6F2B}" srcOrd="2" destOrd="0" presId="urn:microsoft.com/office/officeart/2008/layout/LinedList"/>
    <dgm:cxn modelId="{7A7F9BBA-AD80-4064-AD17-CAEC0B194B39}" type="presParOf" srcId="{B6AFE68E-18D6-4F22-BC37-DB00A0EEB6A4}" destId="{04B77FE4-0BF6-4E97-8DAD-E5F2001C805B}" srcOrd="3" destOrd="0" presId="urn:microsoft.com/office/officeart/2008/layout/LinedList"/>
    <dgm:cxn modelId="{0C9B6D8C-0FFD-4E6C-8CDC-5BE5DACAC2AE}" type="presParOf" srcId="{04B77FE4-0BF6-4E97-8DAD-E5F2001C805B}" destId="{B8A90383-C826-4F73-BB1D-970C435A5229}" srcOrd="0" destOrd="0" presId="urn:microsoft.com/office/officeart/2008/layout/LinedList"/>
    <dgm:cxn modelId="{426F6412-33CB-4FE0-AB1E-D68BE05B0A19}" type="presParOf" srcId="{04B77FE4-0BF6-4E97-8DAD-E5F2001C805B}" destId="{C560E1E3-85E8-4209-A28E-F23B417F5C37}" srcOrd="1" destOrd="0" presId="urn:microsoft.com/office/officeart/2008/layout/LinedList"/>
    <dgm:cxn modelId="{DB560C24-4C97-4A37-80A2-BFBBFD2DC3ED}" type="presParOf" srcId="{B6AFE68E-18D6-4F22-BC37-DB00A0EEB6A4}" destId="{C3CCC8E6-B09F-49CF-857B-304AE0E9CC64}" srcOrd="4" destOrd="0" presId="urn:microsoft.com/office/officeart/2008/layout/LinedList"/>
    <dgm:cxn modelId="{1C0F12E8-3525-48A0-B1F8-3457E54FB372}" type="presParOf" srcId="{B6AFE68E-18D6-4F22-BC37-DB00A0EEB6A4}" destId="{C7616CB5-BD68-4AA6-8F05-BE11C41F0A77}" srcOrd="5" destOrd="0" presId="urn:microsoft.com/office/officeart/2008/layout/LinedList"/>
    <dgm:cxn modelId="{02D354A3-97E7-4085-97B1-7532893737C9}" type="presParOf" srcId="{C7616CB5-BD68-4AA6-8F05-BE11C41F0A77}" destId="{4E5440D4-3F0D-4150-A71F-BB18CF931659}" srcOrd="0" destOrd="0" presId="urn:microsoft.com/office/officeart/2008/layout/LinedList"/>
    <dgm:cxn modelId="{BFB3B95E-A19B-4C52-A676-631467E6936A}" type="presParOf" srcId="{C7616CB5-BD68-4AA6-8F05-BE11C41F0A77}" destId="{F1992CAE-BC48-4212-BFD4-C43510B4ED6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CD7302-F655-4D5C-B350-DF1C093E274B}" type="doc">
      <dgm:prSet loTypeId="urn:microsoft.com/office/officeart/2005/8/layout/lProcess3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269D85A-0889-4BBB-AEE1-BC2961D1195D}">
      <dgm:prSet/>
      <dgm:spPr/>
      <dgm:t>
        <a:bodyPr/>
        <a:lstStyle/>
        <a:p>
          <a:r>
            <a:rPr lang="mk-MK" noProof="0" dirty="0"/>
            <a:t>U-Net покажува подобри резултати во IoU/F1; OpenCV нуди брзина и едноставност.</a:t>
          </a:r>
        </a:p>
      </dgm:t>
    </dgm:pt>
    <dgm:pt modelId="{54E174AB-88A5-4A18-9099-D7FD5F6D1135}" type="parTrans" cxnId="{DE70A53F-3731-4DCC-8E3A-746DD38B4B9E}">
      <dgm:prSet/>
      <dgm:spPr/>
      <dgm:t>
        <a:bodyPr/>
        <a:lstStyle/>
        <a:p>
          <a:endParaRPr lang="en-US"/>
        </a:p>
      </dgm:t>
    </dgm:pt>
    <dgm:pt modelId="{3AF38122-B5E1-4F7B-8726-B92F70578433}" type="sibTrans" cxnId="{DE70A53F-3731-4DCC-8E3A-746DD38B4B9E}">
      <dgm:prSet phldrT="01" phldr="0"/>
      <dgm:spPr/>
      <dgm:t>
        <a:bodyPr/>
        <a:lstStyle/>
        <a:p>
          <a:endParaRPr lang="en-US"/>
        </a:p>
      </dgm:t>
    </dgm:pt>
    <dgm:pt modelId="{34C5D18D-76F1-4E31-A34F-6C5E53D01C46}">
      <dgm:prSet/>
      <dgm:spPr/>
      <dgm:t>
        <a:bodyPr/>
        <a:lstStyle/>
        <a:p>
          <a:r>
            <a:rPr lang="mk-MK" noProof="0" dirty="0"/>
            <a:t>• Идна работа: multi-lane, temporal filtering (Kalman/optical flow), IPM и квантизација за embedded уреди.</a:t>
          </a:r>
        </a:p>
      </dgm:t>
    </dgm:pt>
    <dgm:pt modelId="{70EA4CEA-EBD9-4910-9FED-14A86C0F6357}" type="sibTrans" cxnId="{9F5A5DB3-8DC1-4BFC-A8E5-07AFF476C5B3}">
      <dgm:prSet phldrT="03" phldr="0"/>
      <dgm:spPr/>
      <dgm:t>
        <a:bodyPr/>
        <a:lstStyle/>
        <a:p>
          <a:endParaRPr lang="en-US"/>
        </a:p>
      </dgm:t>
    </dgm:pt>
    <dgm:pt modelId="{3AE1949B-BC8B-438A-9643-DC77349AA5A1}" type="parTrans" cxnId="{9F5A5DB3-8DC1-4BFC-A8E5-07AFF476C5B3}">
      <dgm:prSet/>
      <dgm:spPr/>
      <dgm:t>
        <a:bodyPr/>
        <a:lstStyle/>
        <a:p>
          <a:endParaRPr lang="en-US"/>
        </a:p>
      </dgm:t>
    </dgm:pt>
    <dgm:pt modelId="{9ACEB124-0891-4767-BA3A-B5EA35F73E68}">
      <dgm:prSet/>
      <dgm:spPr/>
      <dgm:t>
        <a:bodyPr/>
        <a:lstStyle/>
        <a:p>
          <a:r>
            <a:rPr lang="mk-MK" noProof="0" dirty="0"/>
            <a:t>• Препорака: хибридна стратегија + проширување на dataset и fine-tuning.</a:t>
          </a:r>
        </a:p>
      </dgm:t>
    </dgm:pt>
    <dgm:pt modelId="{030711C3-173C-439A-8879-338E498F6EBF}" type="sibTrans" cxnId="{89984A5A-DD7A-4672-AB13-AA9E83AC9794}">
      <dgm:prSet phldrT="02" phldr="0"/>
      <dgm:spPr/>
      <dgm:t>
        <a:bodyPr/>
        <a:lstStyle/>
        <a:p>
          <a:endParaRPr lang="en-US"/>
        </a:p>
      </dgm:t>
    </dgm:pt>
    <dgm:pt modelId="{5C531FE2-66E3-49C2-A712-2978FFE859F1}" type="parTrans" cxnId="{89984A5A-DD7A-4672-AB13-AA9E83AC9794}">
      <dgm:prSet/>
      <dgm:spPr/>
      <dgm:t>
        <a:bodyPr/>
        <a:lstStyle/>
        <a:p>
          <a:endParaRPr lang="en-US"/>
        </a:p>
      </dgm:t>
    </dgm:pt>
    <dgm:pt modelId="{7605E5E6-1AE5-4224-A2E2-257193CD9247}" type="pres">
      <dgm:prSet presAssocID="{CBCD7302-F655-4D5C-B350-DF1C093E274B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86B7F812-89D0-4609-AD39-29F357D6512C}" type="pres">
      <dgm:prSet presAssocID="{1269D85A-0889-4BBB-AEE1-BC2961D1195D}" presName="horFlow" presStyleCnt="0"/>
      <dgm:spPr/>
    </dgm:pt>
    <dgm:pt modelId="{8C943B55-9E28-4B71-9C71-7623EBD4013E}" type="pres">
      <dgm:prSet presAssocID="{1269D85A-0889-4BBB-AEE1-BC2961D1195D}" presName="bigChev" presStyleLbl="node1" presStyleIdx="0" presStyleCnt="3"/>
      <dgm:spPr/>
    </dgm:pt>
    <dgm:pt modelId="{2603BFB7-C24F-4EFE-8B0B-0F2DE35805AA}" type="pres">
      <dgm:prSet presAssocID="{1269D85A-0889-4BBB-AEE1-BC2961D1195D}" presName="vSp" presStyleCnt="0"/>
      <dgm:spPr/>
    </dgm:pt>
    <dgm:pt modelId="{1D12C32C-64B6-403C-A162-A645D767861E}" type="pres">
      <dgm:prSet presAssocID="{9ACEB124-0891-4767-BA3A-B5EA35F73E68}" presName="horFlow" presStyleCnt="0"/>
      <dgm:spPr/>
    </dgm:pt>
    <dgm:pt modelId="{9F57ED0D-3E56-4CC2-945B-D4112FF97B07}" type="pres">
      <dgm:prSet presAssocID="{9ACEB124-0891-4767-BA3A-B5EA35F73E68}" presName="bigChev" presStyleLbl="node1" presStyleIdx="1" presStyleCnt="3"/>
      <dgm:spPr/>
    </dgm:pt>
    <dgm:pt modelId="{C0AF9038-7BA1-41A9-AD98-B780E6AFD9B4}" type="pres">
      <dgm:prSet presAssocID="{9ACEB124-0891-4767-BA3A-B5EA35F73E68}" presName="vSp" presStyleCnt="0"/>
      <dgm:spPr/>
    </dgm:pt>
    <dgm:pt modelId="{81A6FDDB-4C93-4F79-9323-6D376287A089}" type="pres">
      <dgm:prSet presAssocID="{34C5D18D-76F1-4E31-A34F-6C5E53D01C46}" presName="horFlow" presStyleCnt="0"/>
      <dgm:spPr/>
    </dgm:pt>
    <dgm:pt modelId="{9E070DE6-049D-4538-B6CC-3E09AED9057A}" type="pres">
      <dgm:prSet presAssocID="{34C5D18D-76F1-4E31-A34F-6C5E53D01C46}" presName="bigChev" presStyleLbl="node1" presStyleIdx="2" presStyleCnt="3"/>
      <dgm:spPr/>
    </dgm:pt>
  </dgm:ptLst>
  <dgm:cxnLst>
    <dgm:cxn modelId="{1F060410-E2D8-485A-9EB1-B2564FF8C857}" type="presOf" srcId="{1269D85A-0889-4BBB-AEE1-BC2961D1195D}" destId="{8C943B55-9E28-4B71-9C71-7623EBD4013E}" srcOrd="0" destOrd="0" presId="urn:microsoft.com/office/officeart/2005/8/layout/lProcess3"/>
    <dgm:cxn modelId="{1AD4783B-413F-4FEA-AE9F-44E8DF7F1788}" type="presOf" srcId="{9ACEB124-0891-4767-BA3A-B5EA35F73E68}" destId="{9F57ED0D-3E56-4CC2-945B-D4112FF97B07}" srcOrd="0" destOrd="0" presId="urn:microsoft.com/office/officeart/2005/8/layout/lProcess3"/>
    <dgm:cxn modelId="{DE70A53F-3731-4DCC-8E3A-746DD38B4B9E}" srcId="{CBCD7302-F655-4D5C-B350-DF1C093E274B}" destId="{1269D85A-0889-4BBB-AEE1-BC2961D1195D}" srcOrd="0" destOrd="0" parTransId="{54E174AB-88A5-4A18-9099-D7FD5F6D1135}" sibTransId="{3AF38122-B5E1-4F7B-8726-B92F70578433}"/>
    <dgm:cxn modelId="{89984A5A-DD7A-4672-AB13-AA9E83AC9794}" srcId="{CBCD7302-F655-4D5C-B350-DF1C093E274B}" destId="{9ACEB124-0891-4767-BA3A-B5EA35F73E68}" srcOrd="1" destOrd="0" parTransId="{5C531FE2-66E3-49C2-A712-2978FFE859F1}" sibTransId="{030711C3-173C-439A-8879-338E498F6EBF}"/>
    <dgm:cxn modelId="{D588E87D-C022-4352-968B-874C41C711D0}" type="presOf" srcId="{CBCD7302-F655-4D5C-B350-DF1C093E274B}" destId="{7605E5E6-1AE5-4224-A2E2-257193CD9247}" srcOrd="0" destOrd="0" presId="urn:microsoft.com/office/officeart/2005/8/layout/lProcess3"/>
    <dgm:cxn modelId="{9F5A5DB3-8DC1-4BFC-A8E5-07AFF476C5B3}" srcId="{CBCD7302-F655-4D5C-B350-DF1C093E274B}" destId="{34C5D18D-76F1-4E31-A34F-6C5E53D01C46}" srcOrd="2" destOrd="0" parTransId="{3AE1949B-BC8B-438A-9643-DC77349AA5A1}" sibTransId="{70EA4CEA-EBD9-4910-9FED-14A86C0F6357}"/>
    <dgm:cxn modelId="{8E4EEBCC-F004-4988-8F66-32CEB27303B3}" type="presOf" srcId="{34C5D18D-76F1-4E31-A34F-6C5E53D01C46}" destId="{9E070DE6-049D-4538-B6CC-3E09AED9057A}" srcOrd="0" destOrd="0" presId="urn:microsoft.com/office/officeart/2005/8/layout/lProcess3"/>
    <dgm:cxn modelId="{72C369AB-774C-44DA-836A-19790D2616C6}" type="presParOf" srcId="{7605E5E6-1AE5-4224-A2E2-257193CD9247}" destId="{86B7F812-89D0-4609-AD39-29F357D6512C}" srcOrd="0" destOrd="0" presId="urn:microsoft.com/office/officeart/2005/8/layout/lProcess3"/>
    <dgm:cxn modelId="{4400D51B-D958-489D-A87F-D3453971CD19}" type="presParOf" srcId="{86B7F812-89D0-4609-AD39-29F357D6512C}" destId="{8C943B55-9E28-4B71-9C71-7623EBD4013E}" srcOrd="0" destOrd="0" presId="urn:microsoft.com/office/officeart/2005/8/layout/lProcess3"/>
    <dgm:cxn modelId="{98055C1A-41EB-41CE-9721-C4B4D3032792}" type="presParOf" srcId="{7605E5E6-1AE5-4224-A2E2-257193CD9247}" destId="{2603BFB7-C24F-4EFE-8B0B-0F2DE35805AA}" srcOrd="1" destOrd="0" presId="urn:microsoft.com/office/officeart/2005/8/layout/lProcess3"/>
    <dgm:cxn modelId="{51DB72B4-26BB-4F48-A9D8-930D2CD5E57A}" type="presParOf" srcId="{7605E5E6-1AE5-4224-A2E2-257193CD9247}" destId="{1D12C32C-64B6-403C-A162-A645D767861E}" srcOrd="2" destOrd="0" presId="urn:microsoft.com/office/officeart/2005/8/layout/lProcess3"/>
    <dgm:cxn modelId="{8FE0C507-434D-4693-A382-308965577B08}" type="presParOf" srcId="{1D12C32C-64B6-403C-A162-A645D767861E}" destId="{9F57ED0D-3E56-4CC2-945B-D4112FF97B07}" srcOrd="0" destOrd="0" presId="urn:microsoft.com/office/officeart/2005/8/layout/lProcess3"/>
    <dgm:cxn modelId="{81BD599B-D27C-42E5-92F5-2543F20AC9CB}" type="presParOf" srcId="{7605E5E6-1AE5-4224-A2E2-257193CD9247}" destId="{C0AF9038-7BA1-41A9-AD98-B780E6AFD9B4}" srcOrd="3" destOrd="0" presId="urn:microsoft.com/office/officeart/2005/8/layout/lProcess3"/>
    <dgm:cxn modelId="{6CC0E88A-039E-475A-A444-CC60FFC1E292}" type="presParOf" srcId="{7605E5E6-1AE5-4224-A2E2-257193CD9247}" destId="{81A6FDDB-4C93-4F79-9323-6D376287A089}" srcOrd="4" destOrd="0" presId="urn:microsoft.com/office/officeart/2005/8/layout/lProcess3"/>
    <dgm:cxn modelId="{8B83D2D0-89DA-47CF-9FB3-069A8C066F14}" type="presParOf" srcId="{81A6FDDB-4C93-4F79-9323-6D376287A089}" destId="{9E070DE6-049D-4538-B6CC-3E09AED9057A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20B8F-1E12-42E6-91EE-3FC825A3382B}">
      <dsp:nvSpPr>
        <dsp:cNvPr id="0" name=""/>
        <dsp:cNvSpPr/>
      </dsp:nvSpPr>
      <dsp:spPr>
        <a:xfrm>
          <a:off x="0" y="798"/>
          <a:ext cx="619955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7778C-BA6D-4186-BFBE-083C65A1FFB9}">
      <dsp:nvSpPr>
        <dsp:cNvPr id="0" name=""/>
        <dsp:cNvSpPr/>
      </dsp:nvSpPr>
      <dsp:spPr>
        <a:xfrm>
          <a:off x="0" y="798"/>
          <a:ext cx="6199552" cy="544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k-MK" sz="1500" kern="1200" noProof="0" dirty="0"/>
            <a:t>• Извори: локални видеа (road_video_1..5); опционално TuSimple, CULane, BDD100K.</a:t>
          </a:r>
        </a:p>
      </dsp:txBody>
      <dsp:txXfrm>
        <a:off x="0" y="798"/>
        <a:ext cx="6199552" cy="544909"/>
      </dsp:txXfrm>
    </dsp:sp>
    <dsp:sp modelId="{6783B267-3399-4094-B40A-A05E1A3C6F2B}">
      <dsp:nvSpPr>
        <dsp:cNvPr id="0" name=""/>
        <dsp:cNvSpPr/>
      </dsp:nvSpPr>
      <dsp:spPr>
        <a:xfrm>
          <a:off x="0" y="545708"/>
          <a:ext cx="619955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90383-C826-4F73-BB1D-970C435A5229}">
      <dsp:nvSpPr>
        <dsp:cNvPr id="0" name=""/>
        <dsp:cNvSpPr/>
      </dsp:nvSpPr>
      <dsp:spPr>
        <a:xfrm>
          <a:off x="0" y="545708"/>
          <a:ext cx="6199552" cy="544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k-MK" sz="1500" kern="1200" noProof="0" dirty="0"/>
            <a:t>• Сплитови: train/val/test; ground-truth: binary lane masks (или псевдо-маски од OpenCV).</a:t>
          </a:r>
        </a:p>
      </dsp:txBody>
      <dsp:txXfrm>
        <a:off x="0" y="545708"/>
        <a:ext cx="6199552" cy="544909"/>
      </dsp:txXfrm>
    </dsp:sp>
    <dsp:sp modelId="{C3CCC8E6-B09F-49CF-857B-304AE0E9CC64}">
      <dsp:nvSpPr>
        <dsp:cNvPr id="0" name=""/>
        <dsp:cNvSpPr/>
      </dsp:nvSpPr>
      <dsp:spPr>
        <a:xfrm>
          <a:off x="0" y="1090618"/>
          <a:ext cx="619955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440D4-3F0D-4150-A71F-BB18CF931659}">
      <dsp:nvSpPr>
        <dsp:cNvPr id="0" name=""/>
        <dsp:cNvSpPr/>
      </dsp:nvSpPr>
      <dsp:spPr>
        <a:xfrm>
          <a:off x="0" y="1090618"/>
          <a:ext cx="6199552" cy="544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k-MK" sz="1500" kern="1200" noProof="0" dirty="0"/>
            <a:t>• Претпроцесирање: екстракција на кадри, resize (256×512), нормализација, аугментации.</a:t>
          </a:r>
        </a:p>
      </dsp:txBody>
      <dsp:txXfrm>
        <a:off x="0" y="1090618"/>
        <a:ext cx="6199552" cy="5449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943B55-9E28-4B71-9C71-7623EBD4013E}">
      <dsp:nvSpPr>
        <dsp:cNvPr id="0" name=""/>
        <dsp:cNvSpPr/>
      </dsp:nvSpPr>
      <dsp:spPr>
        <a:xfrm>
          <a:off x="1370224" y="1212"/>
          <a:ext cx="3725496" cy="1490198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k-MK" sz="1700" kern="1200" noProof="0" dirty="0"/>
            <a:t>U-Net покажува подобри резултати во IoU/F1; OpenCV нуди брзина и едноставност.</a:t>
          </a:r>
        </a:p>
      </dsp:txBody>
      <dsp:txXfrm>
        <a:off x="2115323" y="1212"/>
        <a:ext cx="2235298" cy="1490198"/>
      </dsp:txXfrm>
    </dsp:sp>
    <dsp:sp modelId="{9F57ED0D-3E56-4CC2-945B-D4112FF97B07}">
      <dsp:nvSpPr>
        <dsp:cNvPr id="0" name=""/>
        <dsp:cNvSpPr/>
      </dsp:nvSpPr>
      <dsp:spPr>
        <a:xfrm>
          <a:off x="1370224" y="1700038"/>
          <a:ext cx="3725496" cy="1490198"/>
        </a:xfrm>
        <a:prstGeom prst="chevron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k-MK" sz="1700" kern="1200" noProof="0" dirty="0"/>
            <a:t>• Препорака: хибридна стратегија + проширување на dataset и fine-tuning.</a:t>
          </a:r>
        </a:p>
      </dsp:txBody>
      <dsp:txXfrm>
        <a:off x="2115323" y="1700038"/>
        <a:ext cx="2235298" cy="1490198"/>
      </dsp:txXfrm>
    </dsp:sp>
    <dsp:sp modelId="{9E070DE6-049D-4538-B6CC-3E09AED9057A}">
      <dsp:nvSpPr>
        <dsp:cNvPr id="0" name=""/>
        <dsp:cNvSpPr/>
      </dsp:nvSpPr>
      <dsp:spPr>
        <a:xfrm>
          <a:off x="1370224" y="3398865"/>
          <a:ext cx="3725496" cy="1490198"/>
        </a:xfrm>
        <a:prstGeom prst="chevron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k-MK" sz="1700" kern="1200" noProof="0" dirty="0"/>
            <a:t>• Идна работа: multi-lane, temporal filtering (Kalman/optical flow), IPM и квантизација за embedded уреди.</a:t>
          </a:r>
        </a:p>
      </dsp:txBody>
      <dsp:txXfrm>
        <a:off x="2115323" y="3398865"/>
        <a:ext cx="2235298" cy="14901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F8FB3-4A0E-6E5A-F9D8-A51B348C3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C5AB1D-4C82-889A-8709-E2F9A5121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75275-9E24-4549-ED14-8FFE89BAD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EE192-CCE7-B868-0128-CFCA8F974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E6EA0-F12B-B7DF-CA4E-C96A095F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86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ADC2-A52C-11CF-14EA-5BED44793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2D062-58F9-06BE-1C29-9B0D23842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B034-23F2-BC4F-AFCE-0A1D50D75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CF64A-85E4-3829-92D3-498FA9370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75C65-5A8C-E97C-48D4-D62749BE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50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C627-E13A-BD89-996C-FE297F631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A5DF4-8A4A-3D70-BABF-B6722D95F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7139A-1C7A-C981-7521-F94ABB380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3C556-4397-AAA9-7AC7-97ADBF0B3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90AEF-67E8-828C-E632-C8B1BA01B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52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4A9BB-6DB4-3E9F-155D-BEEE4DFC6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838D8-EDA8-CEF6-4366-B052DD501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B4DDCC-F60F-E40F-DA24-6AA74DC06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77003-08EE-0243-1A09-32E1814CD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F0E0E-66C7-452C-9071-A7D39E3C7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2E93-752B-37A5-7142-89C51FFEC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82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8AA11-BA09-639B-30AE-B59D2908A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35422-6980-D53C-28C4-4DC393829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318E1-1516-A9B2-B8C5-781B56AAC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F306A4-C186-5F2C-887C-E1F4896A4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B1B864-2541-5862-ED58-38180DA89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2A3E1C-B502-725F-B1AF-31B71195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CE3D07-39A4-1ECC-E2F4-B564094F7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BA1060-78A9-8506-F890-15550ACC1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64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D9466-5D24-D8F5-A203-01DEC6CE1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5CCEB-362A-648E-E5C0-D9D584CCE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1DAD7-AFB8-3A43-5605-E49F4F651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9C2D87-04C2-0055-A7CA-B2722FF5D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31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D59E79-6D62-9869-7A07-CDFF5FB95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AF0A2F-3506-C725-302B-146828D73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BC687-BAF1-6671-0A2E-83B47E756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68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85C9F-4987-6064-BDA5-6B7601033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2B5F6-68D7-7E73-F27C-BF4940313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2994A-F7ED-4D22-E247-7C9C20EB8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62C06-C9CF-F6E2-EDB1-2DEF13CFC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43219-08C8-F2D7-C2FA-3CAE02B9A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3050B-F7CF-86D0-429C-2BCB59B93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26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886D-032B-5C2E-E89B-33CBF035D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EBBC20-5F20-7B3C-F4C7-5B0478BBDF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A07A07-93F7-4DDB-B83B-39934D32E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21775-B4B1-D3BC-0E33-BD8C206D0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BADB0-9085-037D-80A0-8EB25592F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84F5D-EA73-5273-0E78-394D3E82B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64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34309-1529-D379-91B9-8ECD82225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80FEE-6B67-6C1D-8634-A78DD85C2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B4DC5-0874-3351-B939-EA7D211E5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5E102-7019-A904-5E7C-C4956996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B2807-8FD2-370D-943F-137CDE86D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88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90A50C-D2AD-F5CD-9A44-E52118138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42E690-F209-5994-AD64-38DCA286B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196A9-EC6E-4B5C-12D9-1822F925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E6D29-C0A6-2A0A-6277-617D05D1A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0535E-3C50-14B9-5280-A116A23AC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B8BFAA-FC47-0DC1-0F6E-22AD7DAAE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42237-F356-010F-E870-0A6C7ED66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640BD-B257-8F53-FDBA-658C7B1D13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98748-5B87-3022-50E7-4B43BB325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89E3B-FC02-48CC-7BFF-F5E7C3A2B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3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zimbakovtech/LaneDetectionCV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diagramData" Target="../diagrams/data1.xml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17.png"/><Relationship Id="rId17" Type="http://schemas.microsoft.com/office/2007/relationships/diagramDrawing" Target="../diagrams/drawing1.xml"/><Relationship Id="rId2" Type="http://schemas.openxmlformats.org/officeDocument/2006/relationships/image" Target="../media/image13.png"/><Relationship Id="rId16" Type="http://schemas.openxmlformats.org/officeDocument/2006/relationships/diagramColors" Target="../diagrams/colors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16.svg"/><Relationship Id="rId15" Type="http://schemas.openxmlformats.org/officeDocument/2006/relationships/diagramQuickStyle" Target="../diagrams/quickStyle1.xml"/><Relationship Id="rId10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8.svg"/><Relationship Id="rId1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svg"/><Relationship Id="rId7" Type="http://schemas.openxmlformats.org/officeDocument/2006/relationships/image" Target="../media/image19.svg"/><Relationship Id="rId12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svg"/><Relationship Id="rId7" Type="http://schemas.openxmlformats.org/officeDocument/2006/relationships/image" Target="../media/image19.svg"/><Relationship Id="rId12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2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2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26.jp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23.svg"/><Relationship Id="rId5" Type="http://schemas.openxmlformats.org/officeDocument/2006/relationships/image" Target="../media/image14.svg"/><Relationship Id="rId10" Type="http://schemas.openxmlformats.org/officeDocument/2006/relationships/image" Target="../media/image22.png"/><Relationship Id="rId4" Type="http://schemas.openxmlformats.org/officeDocument/2006/relationships/image" Target="../media/image13.png"/><Relationship Id="rId9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chart" Target="../charts/chart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2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8.svg"/><Relationship Id="rId5" Type="http://schemas.openxmlformats.org/officeDocument/2006/relationships/image" Target="../media/image4.svg"/><Relationship Id="rId10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diagramLayout" Target="../diagrams/layout2.xml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diagramData" Target="../diagrams/data2.xml"/><Relationship Id="rId17" Type="http://schemas.openxmlformats.org/officeDocument/2006/relationships/image" Target="../media/image30.png"/><Relationship Id="rId2" Type="http://schemas.openxmlformats.org/officeDocument/2006/relationships/image" Target="../media/image13.png"/><Relationship Id="rId16" Type="http://schemas.microsoft.com/office/2007/relationships/diagramDrawing" Target="../diagrams/drawing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8.svg"/><Relationship Id="rId5" Type="http://schemas.openxmlformats.org/officeDocument/2006/relationships/image" Target="../media/image4.svg"/><Relationship Id="rId15" Type="http://schemas.openxmlformats.org/officeDocument/2006/relationships/diagramColors" Target="../diagrams/colors2.xml"/><Relationship Id="rId10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sz="80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mk-MK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mk-MK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mk-MK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mk-MK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mk-MK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mk-MK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mk-MK" noProof="0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502135" y="1556225"/>
            <a:ext cx="5186842" cy="17601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F4C75"/>
                </a:solidFill>
                <a:latin typeface="Calibri"/>
              </a:defRPr>
            </a:pPr>
            <a:r>
              <a:rPr lang="mk-MK" sz="520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Детекција на коловозни ленти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00730" y="3403855"/>
            <a:ext cx="5188034" cy="40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1800" i="0">
                <a:solidFill>
                  <a:srgbClr val="009688"/>
                </a:solidFill>
                <a:latin typeface="Calibri"/>
              </a:defRPr>
            </a:pPr>
            <a:r>
              <a:rPr lang="mk-MK" sz="2000" noProof="0" dirty="0">
                <a:solidFill>
                  <a:schemeClr val="tx2"/>
                </a:solidFill>
              </a:rPr>
              <a:t>Предмет: </a:t>
            </a:r>
            <a:r>
              <a:rPr lang="mk-MK" sz="2000" kern="120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Дигитално процесирање на слика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mk-MK" sz="800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mk-MK" sz="800" noProof="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649591" y="4892948"/>
            <a:ext cx="489031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  <a:latin typeface="Calibri"/>
              </a:defRPr>
            </a:pPr>
            <a:r>
              <a:rPr lang="mk-MK" sz="1400" noProof="0" dirty="0"/>
              <a:t>Автори: Дамјан Зимбаков, Ефимија Цунева • Септември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73626" y="5288213"/>
            <a:ext cx="444224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200">
                <a:solidFill>
                  <a:srgbClr val="505050"/>
                </a:solidFill>
                <a:latin typeface="Calibri"/>
              </a:defRPr>
            </a:pPr>
            <a:r>
              <a:rPr lang="mk-MK" sz="1200" noProof="0" dirty="0"/>
              <a:t>Репозиториум: </a:t>
            </a:r>
            <a:r>
              <a:rPr lang="mk-MK" sz="1200" noProof="0" dirty="0">
                <a:hlinkClick r:id="rId2"/>
              </a:rPr>
              <a:t>https://github.com/zimbakovtech/LaneDetectionCV</a:t>
            </a:r>
            <a:endParaRPr lang="mk-MK" sz="12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E1838B-CA1B-1C1D-A2F1-D3E281977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62AAF6-12C3-46AF-E4D7-63CA7B58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9A640B-1A2A-C5C9-8995-A2F7AD9ED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sz="800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D0AE06-BC71-F171-26FC-25A4E294E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C67842B-E2F6-9CC7-9480-07AEDB1C6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BF9B1BE-15D3-BA0A-39BE-01D4A2954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E3176E-F3C3-E950-88F2-ED78FE35A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B53CED-E497-6019-2D74-C04DE0D71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21415AA-096A-9E5C-E77B-61971AFC6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58E612A-342F-2180-67D2-56662E231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FA001BE-056B-52B3-52B6-13D80D01F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B9AD9A6-3E00-2B24-F7A1-905B19B7B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95A376E-FC90-7B45-6336-093AD89CD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860D585-3C2D-7957-F8CD-6D71FDD0431D}"/>
              </a:ext>
            </a:extLst>
          </p:cNvPr>
          <p:cNvSpPr txBox="1"/>
          <p:nvPr/>
        </p:nvSpPr>
        <p:spPr>
          <a:xfrm>
            <a:off x="787395" y="1177444"/>
            <a:ext cx="2727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Податоци и претпроцесирање</a:t>
            </a:r>
          </a:p>
        </p:txBody>
      </p:sp>
      <p:pic>
        <p:nvPicPr>
          <p:cNvPr id="5" name="Graphic 4" descr="Lightbulb and gear with solid fill">
            <a:extLst>
              <a:ext uri="{FF2B5EF4-FFF2-40B4-BE49-F238E27FC236}">
                <a16:creationId xmlns:a16="http://schemas.microsoft.com/office/drawing/2014/main" id="{4688914C-42BC-599E-A198-3032E1E9E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279" y="443972"/>
            <a:ext cx="495426" cy="4954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5A3EFA-F79A-D186-7EBC-EEC1F21DDDFB}"/>
              </a:ext>
            </a:extLst>
          </p:cNvPr>
          <p:cNvSpPr txBox="1"/>
          <p:nvPr/>
        </p:nvSpPr>
        <p:spPr>
          <a:xfrm>
            <a:off x="751157" y="532832"/>
            <a:ext cx="2549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/>
              <a:t>Вовед и мотивација</a:t>
            </a:r>
          </a:p>
        </p:txBody>
      </p:sp>
      <p:pic>
        <p:nvPicPr>
          <p:cNvPr id="17" name="Graphic 16" descr="Folder Search with solid fill">
            <a:extLst>
              <a:ext uri="{FF2B5EF4-FFF2-40B4-BE49-F238E27FC236}">
                <a16:creationId xmlns:a16="http://schemas.microsoft.com/office/drawing/2014/main" id="{0420607E-78D9-0312-13AA-8F2145EE4D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537" y="1196581"/>
            <a:ext cx="550910" cy="55091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6F753C1-DDC8-108A-0125-DDBDCE45C37E}"/>
              </a:ext>
            </a:extLst>
          </p:cNvPr>
          <p:cNvSpPr txBox="1"/>
          <p:nvPr/>
        </p:nvSpPr>
        <p:spPr>
          <a:xfrm>
            <a:off x="735442" y="1882794"/>
            <a:ext cx="2831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Методи: OpenCV pipeline и U-Net</a:t>
            </a:r>
          </a:p>
        </p:txBody>
      </p:sp>
      <p:pic>
        <p:nvPicPr>
          <p:cNvPr id="25" name="Graphic 24" descr="Circles with arrows outline">
            <a:extLst>
              <a:ext uri="{FF2B5EF4-FFF2-40B4-BE49-F238E27FC236}">
                <a16:creationId xmlns:a16="http://schemas.microsoft.com/office/drawing/2014/main" id="{35065B42-07EE-D834-1443-BCFFA3239A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638" y="1876393"/>
            <a:ext cx="550910" cy="55091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BA4CC0B-E83A-189D-125B-9ED7344AB8C4}"/>
              </a:ext>
            </a:extLst>
          </p:cNvPr>
          <p:cNvSpPr txBox="1"/>
          <p:nvPr/>
        </p:nvSpPr>
        <p:spPr>
          <a:xfrm>
            <a:off x="686660" y="2775028"/>
            <a:ext cx="2880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Метрики и експерименти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5FDD49-3875-4627-ADB1-A095A50197FF}"/>
              </a:ext>
            </a:extLst>
          </p:cNvPr>
          <p:cNvSpPr txBox="1"/>
          <p:nvPr/>
        </p:nvSpPr>
        <p:spPr>
          <a:xfrm>
            <a:off x="802530" y="3384188"/>
            <a:ext cx="289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Дискусија, заклучок и идни насоки</a:t>
            </a:r>
          </a:p>
        </p:txBody>
      </p:sp>
      <p:pic>
        <p:nvPicPr>
          <p:cNvPr id="32" name="Graphic 31" descr="Flask outline">
            <a:extLst>
              <a:ext uri="{FF2B5EF4-FFF2-40B4-BE49-F238E27FC236}">
                <a16:creationId xmlns:a16="http://schemas.microsoft.com/office/drawing/2014/main" id="{4D1574BB-0486-A922-D6E3-CE8EDC80F5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739" y="2605397"/>
            <a:ext cx="614708" cy="614708"/>
          </a:xfrm>
          <a:prstGeom prst="rect">
            <a:avLst/>
          </a:prstGeom>
        </p:spPr>
      </p:pic>
      <p:pic>
        <p:nvPicPr>
          <p:cNvPr id="34" name="Graphic 33" descr="Storytelling with solid fill">
            <a:extLst>
              <a:ext uri="{FF2B5EF4-FFF2-40B4-BE49-F238E27FC236}">
                <a16:creationId xmlns:a16="http://schemas.microsoft.com/office/drawing/2014/main" id="{37ABE921-5397-A14A-4D20-7361950BC9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5055" y="3372517"/>
            <a:ext cx="430387" cy="430387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F074B9D-E6F9-067C-1161-B9B9ECF17F48}"/>
              </a:ext>
            </a:extLst>
          </p:cNvPr>
          <p:cNvSpPr/>
          <p:nvPr/>
        </p:nvSpPr>
        <p:spPr>
          <a:xfrm>
            <a:off x="226142" y="265471"/>
            <a:ext cx="3470787" cy="8129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916DF6-1621-22EC-3F01-30D9401F98F5}"/>
              </a:ext>
            </a:extLst>
          </p:cNvPr>
          <p:cNvSpPr txBox="1"/>
          <p:nvPr/>
        </p:nvSpPr>
        <p:spPr>
          <a:xfrm>
            <a:off x="3886530" y="1245141"/>
            <a:ext cx="365879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mk-MK" sz="1600" noProof="0" dirty="0"/>
              <a:t>Детекцијата на ленти е основна задача за перцепција во помошта на возачот и автономното возење. Сигурната проценка на ленти овозможува странична контрола, предупредувања за напуштање и планирање на патека. Традиционалните методи на </a:t>
            </a:r>
            <a:r>
              <a:rPr lang="en-US" sz="1600" noProof="0" dirty="0"/>
              <a:t>Computer Vision </a:t>
            </a:r>
            <a:r>
              <a:rPr lang="mk-MK" sz="1600" noProof="0" dirty="0"/>
              <a:t>остануваат привлечни поради нивната интерпретација и ниската пресметковна цена. Пристапите за длабоко учење обезбедуваат посилна робусност на примена  во реалниот свет, но бараат анотирани податоци и повеќе пресметки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45CE4B-8756-6500-30F7-CD9A02F746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8295" y="563364"/>
            <a:ext cx="4046566" cy="53134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0004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0A5D42-DD37-FF2F-F7FC-DDDDD7C6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4772B6-AE60-CCB4-30BD-678031588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11FA7E-FEE9-3AA2-910D-A70B549EA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sz="800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F55C88-1547-3F63-151E-46098AEEA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2E1E967-E5F0-C7E0-9A1D-D015E5CFF5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84CAE13-5E25-CC28-336A-5CAF8D7F5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D3F012-F0A6-CC07-BE54-6EF88DF4B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BE39200-135D-C677-7F24-0685DA4DE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34E197-6354-4F35-A76E-A292FF84C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638092D-5DE5-ED38-F295-BEF7EE3BC7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720B449-95AF-7666-962C-3615AFBF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DC23BC5-DA50-0453-9CE7-F2D5D32720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12744BE-D5D4-AF41-D861-13C41DA86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A7C53EB-336A-E1BC-24BB-204E70CFE418}"/>
              </a:ext>
            </a:extLst>
          </p:cNvPr>
          <p:cNvSpPr txBox="1"/>
          <p:nvPr/>
        </p:nvSpPr>
        <p:spPr>
          <a:xfrm>
            <a:off x="787395" y="1177444"/>
            <a:ext cx="2727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Податоци и претпроцесирање</a:t>
            </a:r>
          </a:p>
        </p:txBody>
      </p:sp>
      <p:pic>
        <p:nvPicPr>
          <p:cNvPr id="5" name="Graphic 4" descr="Lightbulb and gear with solid fill">
            <a:extLst>
              <a:ext uri="{FF2B5EF4-FFF2-40B4-BE49-F238E27FC236}">
                <a16:creationId xmlns:a16="http://schemas.microsoft.com/office/drawing/2014/main" id="{C1328C22-1443-2F0F-BE03-BC7B4719F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279" y="443972"/>
            <a:ext cx="495426" cy="4954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6AFA18-9A8C-61D7-24DF-F2DA8E8E44DD}"/>
              </a:ext>
            </a:extLst>
          </p:cNvPr>
          <p:cNvSpPr txBox="1"/>
          <p:nvPr/>
        </p:nvSpPr>
        <p:spPr>
          <a:xfrm>
            <a:off x="751157" y="532832"/>
            <a:ext cx="2549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/>
              <a:t>Вовед и мотивација</a:t>
            </a:r>
          </a:p>
        </p:txBody>
      </p:sp>
      <p:pic>
        <p:nvPicPr>
          <p:cNvPr id="17" name="Graphic 16" descr="Folder Search with solid fill">
            <a:extLst>
              <a:ext uri="{FF2B5EF4-FFF2-40B4-BE49-F238E27FC236}">
                <a16:creationId xmlns:a16="http://schemas.microsoft.com/office/drawing/2014/main" id="{73FA00C0-F052-D5F1-B3EF-F02DA2F553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537" y="1196581"/>
            <a:ext cx="550910" cy="55091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09744EB-FC0F-9C89-0075-B9D466C00584}"/>
              </a:ext>
            </a:extLst>
          </p:cNvPr>
          <p:cNvSpPr txBox="1"/>
          <p:nvPr/>
        </p:nvSpPr>
        <p:spPr>
          <a:xfrm>
            <a:off x="735442" y="1882794"/>
            <a:ext cx="2831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Методи: OpenCV pipeline и U-Net</a:t>
            </a:r>
          </a:p>
        </p:txBody>
      </p:sp>
      <p:pic>
        <p:nvPicPr>
          <p:cNvPr id="25" name="Graphic 24" descr="Circles with arrows outline">
            <a:extLst>
              <a:ext uri="{FF2B5EF4-FFF2-40B4-BE49-F238E27FC236}">
                <a16:creationId xmlns:a16="http://schemas.microsoft.com/office/drawing/2014/main" id="{FBADC032-A5D0-6C58-B281-490D62286D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638" y="1876393"/>
            <a:ext cx="550910" cy="55091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D0FC1AE-68D6-233A-53EA-D69C4D43F3E6}"/>
              </a:ext>
            </a:extLst>
          </p:cNvPr>
          <p:cNvSpPr txBox="1"/>
          <p:nvPr/>
        </p:nvSpPr>
        <p:spPr>
          <a:xfrm>
            <a:off x="686660" y="2775028"/>
            <a:ext cx="2880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Метрики и експерименти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C87AE9-B111-CE24-AACA-34CEE235A811}"/>
              </a:ext>
            </a:extLst>
          </p:cNvPr>
          <p:cNvSpPr txBox="1"/>
          <p:nvPr/>
        </p:nvSpPr>
        <p:spPr>
          <a:xfrm>
            <a:off x="802530" y="3384188"/>
            <a:ext cx="289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Дискусија, заклучок и идни насоки</a:t>
            </a:r>
          </a:p>
        </p:txBody>
      </p:sp>
      <p:pic>
        <p:nvPicPr>
          <p:cNvPr id="32" name="Graphic 31" descr="Flask outline">
            <a:extLst>
              <a:ext uri="{FF2B5EF4-FFF2-40B4-BE49-F238E27FC236}">
                <a16:creationId xmlns:a16="http://schemas.microsoft.com/office/drawing/2014/main" id="{2E8D511F-C2B8-9F24-E18A-D0A3A77C62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739" y="2605397"/>
            <a:ext cx="614708" cy="614708"/>
          </a:xfrm>
          <a:prstGeom prst="rect">
            <a:avLst/>
          </a:prstGeom>
        </p:spPr>
      </p:pic>
      <p:pic>
        <p:nvPicPr>
          <p:cNvPr id="34" name="Graphic 33" descr="Storytelling with solid fill">
            <a:extLst>
              <a:ext uri="{FF2B5EF4-FFF2-40B4-BE49-F238E27FC236}">
                <a16:creationId xmlns:a16="http://schemas.microsoft.com/office/drawing/2014/main" id="{BB977E1D-6547-CF77-8EE5-8945AA8CA0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5055" y="3372517"/>
            <a:ext cx="430387" cy="430387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B0FFF81-B982-2C43-E67F-8001947A9055}"/>
              </a:ext>
            </a:extLst>
          </p:cNvPr>
          <p:cNvSpPr/>
          <p:nvPr/>
        </p:nvSpPr>
        <p:spPr>
          <a:xfrm>
            <a:off x="226142" y="265471"/>
            <a:ext cx="3470787" cy="8129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EBC39-11FC-8B0F-AF34-B3370BF9BF90}"/>
              </a:ext>
            </a:extLst>
          </p:cNvPr>
          <p:cNvSpPr txBox="1"/>
          <p:nvPr/>
        </p:nvSpPr>
        <p:spPr>
          <a:xfrm>
            <a:off x="5758619" y="366367"/>
            <a:ext cx="575620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noProof="0" dirty="0"/>
              <a:t>Овој проект имплементира и споредува две стратегии за откривање на ленти:</a:t>
            </a:r>
            <a:br>
              <a:rPr lang="en-US" noProof="0" dirty="0"/>
            </a:br>
            <a:endParaRPr lang="mk-MK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dirty="0"/>
              <a:t>Едноставен OpenCV pipeline</a:t>
            </a:r>
            <a:br>
              <a:rPr lang="en-US" dirty="0"/>
            </a:br>
            <a:r>
              <a:rPr lang="en-US" dirty="0"/>
              <a:t>Grayscale → Gaussian Blur → Canny edges→ ROI → Hough Transform → </a:t>
            </a:r>
            <a:r>
              <a:rPr lang="mk-MK" dirty="0"/>
              <a:t>групирање (лево / десно)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dirty="0"/>
              <a:t>U-Net pipeline за семантичка сегментација на пиксели на ленти, со лесна пост-обработка за визуелизација, имплементиран со Keras/TensorFlow, скрипти за подготовка/обука/заклучување на податоци и алатки за евалуација.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mk-MK" dirty="0"/>
          </a:p>
          <a:p>
            <a:endParaRPr lang="mk-MK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38D365-2AAB-CB27-8080-67AFA833B9D2}"/>
              </a:ext>
            </a:extLst>
          </p:cNvPr>
          <p:cNvSpPr txBox="1"/>
          <p:nvPr/>
        </p:nvSpPr>
        <p:spPr>
          <a:xfrm>
            <a:off x="5944086" y="4691410"/>
            <a:ext cx="59774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noProof="0" dirty="0"/>
              <a:t>Разговараме за подготовка на податоци, детали за имплементација, метрики за евалуација (IoU,прецизност/потсетување, F1, точност на пиксели), експерименти, резултати, ограничувања и насоки за идно подобрување.</a:t>
            </a:r>
          </a:p>
        </p:txBody>
      </p:sp>
      <p:pic>
        <p:nvPicPr>
          <p:cNvPr id="31" name="Picture 30" descr="A diagram of a graph&#10;&#10;AI-generated content may be incorrect.">
            <a:extLst>
              <a:ext uri="{FF2B5EF4-FFF2-40B4-BE49-F238E27FC236}">
                <a16:creationId xmlns:a16="http://schemas.microsoft.com/office/drawing/2014/main" id="{083B4357-393E-AFC4-6793-1CB700DE26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06" y="4537799"/>
            <a:ext cx="5674261" cy="231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18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sz="800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D80633C2-1D77-DA9D-4975-401A991ED3C1}"/>
              </a:ext>
            </a:extLst>
          </p:cNvPr>
          <p:cNvSpPr txBox="1"/>
          <p:nvPr/>
        </p:nvSpPr>
        <p:spPr>
          <a:xfrm>
            <a:off x="5401018" y="1404248"/>
            <a:ext cx="5747692" cy="27768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  <a:defRPr sz="1600">
                <a:latin typeface="Calibri"/>
              </a:defRPr>
            </a:pPr>
            <a:endParaRPr lang="mk-MK" sz="1600" noProof="0" dirty="0">
              <a:solidFill>
                <a:schemeClr val="tx2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A94800-E46D-B991-46E5-B1D50B05D0B8}"/>
              </a:ext>
            </a:extLst>
          </p:cNvPr>
          <p:cNvSpPr txBox="1"/>
          <p:nvPr/>
        </p:nvSpPr>
        <p:spPr>
          <a:xfrm>
            <a:off x="8084031" y="457390"/>
            <a:ext cx="391723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mk-MK" sz="1600" noProof="0" dirty="0"/>
              <a:t>Потребно е да се детектираат и визуелизираат линиите на лентите за возење во видео записи добиени од </a:t>
            </a:r>
            <a:r>
              <a:rPr lang="mk-MK" sz="1600" b="1" noProof="0" dirty="0"/>
              <a:t>преднонасочена камера </a:t>
            </a:r>
            <a:r>
              <a:rPr lang="mk-MK" sz="1600" noProof="0" dirty="0"/>
              <a:t>поставена во близина на ветробранското стакло. Лентите може да бидат </a:t>
            </a:r>
            <a:r>
              <a:rPr lang="mk-MK" sz="1600" b="1" noProof="0" dirty="0"/>
              <a:t>бели</a:t>
            </a:r>
            <a:r>
              <a:rPr lang="mk-MK" sz="1600" noProof="0" dirty="0"/>
              <a:t> или </a:t>
            </a:r>
            <a:r>
              <a:rPr lang="mk-MK" sz="1600" b="1" noProof="0" dirty="0"/>
              <a:t>жолти</a:t>
            </a:r>
            <a:r>
              <a:rPr lang="mk-MK" sz="1600" noProof="0" dirty="0"/>
              <a:t>, </a:t>
            </a:r>
            <a:r>
              <a:rPr lang="mk-MK" sz="1600" b="1" noProof="0" dirty="0"/>
              <a:t>полни</a:t>
            </a:r>
            <a:r>
              <a:rPr lang="mk-MK" sz="1600" noProof="0" dirty="0"/>
              <a:t> или </a:t>
            </a:r>
            <a:r>
              <a:rPr lang="mk-MK" sz="1600" b="1" noProof="0" dirty="0"/>
              <a:t>испрекинати</a:t>
            </a:r>
            <a:r>
              <a:rPr lang="mk-MK" sz="1600" noProof="0" dirty="0"/>
              <a:t>, а често се делумно блокирани или деградирани, што претставува предизвик за сигурна детекција.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D1584E-41E0-2115-E41E-7CA0857B9F1B}"/>
              </a:ext>
            </a:extLst>
          </p:cNvPr>
          <p:cNvSpPr txBox="1"/>
          <p:nvPr/>
        </p:nvSpPr>
        <p:spPr>
          <a:xfrm>
            <a:off x="7990455" y="3363552"/>
            <a:ext cx="399527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/>
              <a:t>Цели: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1600" noProof="0" dirty="0"/>
              <a:t>Развој на брз </a:t>
            </a:r>
            <a:r>
              <a:rPr lang="mk-MK" sz="1600" b="1" noProof="0" dirty="0"/>
              <a:t>OpenCV</a:t>
            </a:r>
            <a:r>
              <a:rPr lang="mk-MK" sz="1600" noProof="0" dirty="0"/>
              <a:t> </a:t>
            </a:r>
            <a:r>
              <a:rPr lang="mk-MK" sz="1600" b="1" noProof="0" dirty="0"/>
              <a:t>pipeline</a:t>
            </a:r>
            <a:r>
              <a:rPr lang="mk-MK" sz="1600" noProof="0" dirty="0"/>
              <a:t> за преклопување на ленти во речиси реално време.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1600" b="1" noProof="0" dirty="0"/>
              <a:t>U-Net pipeline </a:t>
            </a:r>
            <a:r>
              <a:rPr lang="mk-MK" sz="1600" noProof="0" dirty="0"/>
              <a:t>за сегментација со зголемена </a:t>
            </a:r>
            <a:r>
              <a:rPr lang="mk-MK" sz="1600" noProof="0" dirty="0" err="1"/>
              <a:t>прецизнот</a:t>
            </a:r>
            <a:r>
              <a:rPr lang="mk-MK" sz="1600" noProof="0" dirty="0"/>
              <a:t> во сложени услови.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1600" noProof="0" dirty="0"/>
              <a:t>Обезбедување на скрипти за </a:t>
            </a:r>
            <a:r>
              <a:rPr lang="mk-MK" sz="1600" b="1" noProof="0" dirty="0"/>
              <a:t>подготовка</a:t>
            </a:r>
            <a:r>
              <a:rPr lang="mk-MK" sz="1600" noProof="0" dirty="0"/>
              <a:t>, </a:t>
            </a:r>
            <a:r>
              <a:rPr lang="mk-MK" sz="1600" b="1" noProof="0" dirty="0"/>
              <a:t>обука</a:t>
            </a:r>
            <a:r>
              <a:rPr lang="mk-MK" sz="1600" noProof="0" dirty="0"/>
              <a:t> и </a:t>
            </a:r>
            <a:r>
              <a:rPr lang="mk-MK" sz="1600" b="1" noProof="0" dirty="0"/>
              <a:t>евалуација</a:t>
            </a:r>
            <a:r>
              <a:rPr lang="mk-MK" sz="1600" noProof="0" dirty="0"/>
              <a:t> на податочни множества.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1600" noProof="0" dirty="0"/>
              <a:t>Споредба на двата пристапи преку </a:t>
            </a:r>
            <a:r>
              <a:rPr lang="mk-MK" sz="1600" b="1" noProof="0" dirty="0"/>
              <a:t>квантитативни</a:t>
            </a:r>
            <a:r>
              <a:rPr lang="mk-MK" sz="1600" noProof="0" dirty="0"/>
              <a:t> и </a:t>
            </a:r>
            <a:r>
              <a:rPr lang="mk-MK" sz="1600" b="1" noProof="0" dirty="0"/>
              <a:t>квалитативни</a:t>
            </a:r>
            <a:r>
              <a:rPr lang="mk-MK" sz="1600" noProof="0" dirty="0"/>
              <a:t> </a:t>
            </a:r>
            <a:r>
              <a:rPr lang="mk-MK" sz="1600" b="1" noProof="0" dirty="0"/>
              <a:t>метрики</a:t>
            </a:r>
            <a:r>
              <a:rPr lang="mk-MK" sz="1600" noProof="0" dirty="0"/>
              <a:t>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83FA230-E180-98E7-9A9C-B213D6F09E05}"/>
              </a:ext>
            </a:extLst>
          </p:cNvPr>
          <p:cNvSpPr txBox="1"/>
          <p:nvPr/>
        </p:nvSpPr>
        <p:spPr>
          <a:xfrm>
            <a:off x="787395" y="1177444"/>
            <a:ext cx="2727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/>
              <a:t>Податоци и претпроцесирање</a:t>
            </a:r>
          </a:p>
        </p:txBody>
      </p:sp>
      <p:pic>
        <p:nvPicPr>
          <p:cNvPr id="55" name="Graphic 54" descr="Lightbulb and gear with solid fill">
            <a:extLst>
              <a:ext uri="{FF2B5EF4-FFF2-40B4-BE49-F238E27FC236}">
                <a16:creationId xmlns:a16="http://schemas.microsoft.com/office/drawing/2014/main" id="{6CE5E28E-E56D-8FA0-9078-D1C8060D7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279" y="443972"/>
            <a:ext cx="495426" cy="495426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B71FF5F3-A656-33D6-D518-C906D9E84955}"/>
              </a:ext>
            </a:extLst>
          </p:cNvPr>
          <p:cNvSpPr txBox="1"/>
          <p:nvPr/>
        </p:nvSpPr>
        <p:spPr>
          <a:xfrm>
            <a:off x="751157" y="532832"/>
            <a:ext cx="2549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Вовед и мотивација</a:t>
            </a:r>
          </a:p>
        </p:txBody>
      </p:sp>
      <p:pic>
        <p:nvPicPr>
          <p:cNvPr id="57" name="Graphic 56" descr="Folder Search with solid fill">
            <a:extLst>
              <a:ext uri="{FF2B5EF4-FFF2-40B4-BE49-F238E27FC236}">
                <a16:creationId xmlns:a16="http://schemas.microsoft.com/office/drawing/2014/main" id="{A36E4545-CA00-9EEC-8409-E53BB32B57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537" y="1196581"/>
            <a:ext cx="550910" cy="55091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D0183C77-6C18-D472-6B18-9E3C4C855B0E}"/>
              </a:ext>
            </a:extLst>
          </p:cNvPr>
          <p:cNvSpPr txBox="1"/>
          <p:nvPr/>
        </p:nvSpPr>
        <p:spPr>
          <a:xfrm>
            <a:off x="735442" y="1882794"/>
            <a:ext cx="2831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Методи: OpenCV pipeline и U-Net</a:t>
            </a:r>
          </a:p>
        </p:txBody>
      </p:sp>
      <p:pic>
        <p:nvPicPr>
          <p:cNvPr id="59" name="Graphic 58" descr="Circles with arrows outline">
            <a:extLst>
              <a:ext uri="{FF2B5EF4-FFF2-40B4-BE49-F238E27FC236}">
                <a16:creationId xmlns:a16="http://schemas.microsoft.com/office/drawing/2014/main" id="{0BEF3A4D-11CF-C947-C50E-82BAFA828D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638" y="1876393"/>
            <a:ext cx="550910" cy="55091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728F9990-86AE-74E7-D3B9-ED2708843F5B}"/>
              </a:ext>
            </a:extLst>
          </p:cNvPr>
          <p:cNvSpPr txBox="1"/>
          <p:nvPr/>
        </p:nvSpPr>
        <p:spPr>
          <a:xfrm>
            <a:off x="686660" y="2775028"/>
            <a:ext cx="2880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Метрики и експерименти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A53220-75C9-28DE-EE3F-80C12025904B}"/>
              </a:ext>
            </a:extLst>
          </p:cNvPr>
          <p:cNvSpPr txBox="1"/>
          <p:nvPr/>
        </p:nvSpPr>
        <p:spPr>
          <a:xfrm>
            <a:off x="802530" y="3384188"/>
            <a:ext cx="289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Дискусија, заклучок и идни насоки</a:t>
            </a:r>
          </a:p>
        </p:txBody>
      </p:sp>
      <p:pic>
        <p:nvPicPr>
          <p:cNvPr id="62" name="Graphic 61" descr="Flask outline">
            <a:extLst>
              <a:ext uri="{FF2B5EF4-FFF2-40B4-BE49-F238E27FC236}">
                <a16:creationId xmlns:a16="http://schemas.microsoft.com/office/drawing/2014/main" id="{E6A9EAF9-CEF3-BE00-76EA-6041B2B90B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739" y="2625280"/>
            <a:ext cx="614708" cy="614708"/>
          </a:xfrm>
          <a:prstGeom prst="rect">
            <a:avLst/>
          </a:prstGeom>
        </p:spPr>
      </p:pic>
      <p:pic>
        <p:nvPicPr>
          <p:cNvPr id="63" name="Graphic 62" descr="Storytelling with solid fill">
            <a:extLst>
              <a:ext uri="{FF2B5EF4-FFF2-40B4-BE49-F238E27FC236}">
                <a16:creationId xmlns:a16="http://schemas.microsoft.com/office/drawing/2014/main" id="{5ED527D4-CEEE-596B-E701-7627E3827E5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5055" y="3372517"/>
            <a:ext cx="430387" cy="430387"/>
          </a:xfrm>
          <a:prstGeom prst="rect">
            <a:avLst/>
          </a:prstGeom>
        </p:spPr>
      </p:pic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EDE16183-D803-B19D-1CEC-F9C0BCEC126A}"/>
              </a:ext>
            </a:extLst>
          </p:cNvPr>
          <p:cNvSpPr/>
          <p:nvPr/>
        </p:nvSpPr>
        <p:spPr>
          <a:xfrm>
            <a:off x="172047" y="1069821"/>
            <a:ext cx="3470787" cy="8129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796A0E-C87D-57B9-FAEA-8E35E8BFA66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4797" y="308695"/>
            <a:ext cx="3356661" cy="441280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aphicFrame>
        <p:nvGraphicFramePr>
          <p:cNvPr id="4" name="TextBox 2">
            <a:extLst>
              <a:ext uri="{FF2B5EF4-FFF2-40B4-BE49-F238E27FC236}">
                <a16:creationId xmlns:a16="http://schemas.microsoft.com/office/drawing/2014/main" id="{DEB76E14-C3E8-B65C-661C-1FDC717BE8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6377535"/>
              </p:ext>
            </p:extLst>
          </p:nvPr>
        </p:nvGraphicFramePr>
        <p:xfrm>
          <a:off x="305055" y="5010157"/>
          <a:ext cx="6199552" cy="16363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F88C4-3A22-0BB1-0433-B962F7232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1750FF4-7907-8D65-C3AA-1D963E4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1021E6-F1BF-295C-DBA3-50CE17827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sz="800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6D83AA-64BC-172D-5AC2-BCAB7360EDB0}"/>
              </a:ext>
            </a:extLst>
          </p:cNvPr>
          <p:cNvSpPr txBox="1"/>
          <p:nvPr/>
        </p:nvSpPr>
        <p:spPr>
          <a:xfrm>
            <a:off x="7108078" y="2611053"/>
            <a:ext cx="3632714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F4C75"/>
                </a:solidFill>
                <a:latin typeface="Calibri"/>
              </a:defRPr>
            </a:pPr>
            <a:endParaRPr lang="mk-MK" sz="1600" kern="120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6D064F-D4CC-4191-CF0F-1A2A9EF2B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312F4FF-2775-B0C4-84AC-47DC57CA7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1C68118-DC68-95F5-CAF3-F8FF9E02E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D409FDF-7A29-743C-D82B-E6DB66B6F1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CD4C5B6-6BDB-A2C8-868B-F7B4D096E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22D5DC1-B884-54FB-7872-F8365A6A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BC82787-5E95-1D54-3C58-1FEC8F83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52AC069-7A97-ED2C-78CD-1C5A79EF3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E2B07DB-2116-D933-C862-4DDB5C5C4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7DC5F2-1DB1-2FB7-A6A1-93832EB6C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E424BBE-8FAA-349F-4B18-2745B87B5732}"/>
              </a:ext>
            </a:extLst>
          </p:cNvPr>
          <p:cNvSpPr txBox="1"/>
          <p:nvPr/>
        </p:nvSpPr>
        <p:spPr>
          <a:xfrm>
            <a:off x="787395" y="1177444"/>
            <a:ext cx="2727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Податоци и претпроцесирање</a:t>
            </a:r>
          </a:p>
        </p:txBody>
      </p:sp>
      <p:pic>
        <p:nvPicPr>
          <p:cNvPr id="7" name="Graphic 6" descr="Lightbulb and gear with solid fill">
            <a:extLst>
              <a:ext uri="{FF2B5EF4-FFF2-40B4-BE49-F238E27FC236}">
                <a16:creationId xmlns:a16="http://schemas.microsoft.com/office/drawing/2014/main" id="{61AF3AA2-138E-579C-CCB7-088349E10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279" y="443972"/>
            <a:ext cx="495426" cy="4954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8716F8-2707-7D2B-27B9-F8E70F1D2FEB}"/>
              </a:ext>
            </a:extLst>
          </p:cNvPr>
          <p:cNvSpPr txBox="1"/>
          <p:nvPr/>
        </p:nvSpPr>
        <p:spPr>
          <a:xfrm>
            <a:off x="751157" y="532832"/>
            <a:ext cx="2549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Вовед и мотивација</a:t>
            </a:r>
          </a:p>
        </p:txBody>
      </p:sp>
      <p:pic>
        <p:nvPicPr>
          <p:cNvPr id="24" name="Graphic 23" descr="Folder Search with solid fill">
            <a:extLst>
              <a:ext uri="{FF2B5EF4-FFF2-40B4-BE49-F238E27FC236}">
                <a16:creationId xmlns:a16="http://schemas.microsoft.com/office/drawing/2014/main" id="{7F5687E4-163C-B3D1-5963-1FDAB8395E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537" y="1196581"/>
            <a:ext cx="550910" cy="55091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2BABE22-B66E-F3A0-90C3-4F790C1EB926}"/>
              </a:ext>
            </a:extLst>
          </p:cNvPr>
          <p:cNvSpPr txBox="1"/>
          <p:nvPr/>
        </p:nvSpPr>
        <p:spPr>
          <a:xfrm>
            <a:off x="735442" y="1882794"/>
            <a:ext cx="2831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/>
              <a:t>Методи: OpenCV pipeline и U-Net</a:t>
            </a:r>
          </a:p>
        </p:txBody>
      </p:sp>
      <p:pic>
        <p:nvPicPr>
          <p:cNvPr id="28" name="Graphic 27" descr="Circles with arrows outline">
            <a:extLst>
              <a:ext uri="{FF2B5EF4-FFF2-40B4-BE49-F238E27FC236}">
                <a16:creationId xmlns:a16="http://schemas.microsoft.com/office/drawing/2014/main" id="{B92B3962-B8A3-461C-923F-2E5C70A889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638" y="1876393"/>
            <a:ext cx="550910" cy="55091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92CE37C-3215-995E-30A9-B635E031C812}"/>
              </a:ext>
            </a:extLst>
          </p:cNvPr>
          <p:cNvSpPr txBox="1"/>
          <p:nvPr/>
        </p:nvSpPr>
        <p:spPr>
          <a:xfrm>
            <a:off x="686660" y="2775028"/>
            <a:ext cx="2880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Метрики и експерименти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C78B81-09C8-5EAB-A24F-C55FBED7EE89}"/>
              </a:ext>
            </a:extLst>
          </p:cNvPr>
          <p:cNvSpPr txBox="1"/>
          <p:nvPr/>
        </p:nvSpPr>
        <p:spPr>
          <a:xfrm>
            <a:off x="802530" y="3384188"/>
            <a:ext cx="289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Дискусија, заклучок и идни насоки</a:t>
            </a:r>
          </a:p>
        </p:txBody>
      </p:sp>
      <p:pic>
        <p:nvPicPr>
          <p:cNvPr id="33" name="Graphic 32" descr="Flask outline">
            <a:extLst>
              <a:ext uri="{FF2B5EF4-FFF2-40B4-BE49-F238E27FC236}">
                <a16:creationId xmlns:a16="http://schemas.microsoft.com/office/drawing/2014/main" id="{6F7080AF-960A-C6B7-3EEB-669F22B48D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739" y="2624829"/>
            <a:ext cx="614708" cy="614708"/>
          </a:xfrm>
          <a:prstGeom prst="rect">
            <a:avLst/>
          </a:prstGeom>
        </p:spPr>
      </p:pic>
      <p:pic>
        <p:nvPicPr>
          <p:cNvPr id="36" name="Graphic 35" descr="Storytelling with solid fill">
            <a:extLst>
              <a:ext uri="{FF2B5EF4-FFF2-40B4-BE49-F238E27FC236}">
                <a16:creationId xmlns:a16="http://schemas.microsoft.com/office/drawing/2014/main" id="{E4CE4C0C-5123-7B19-E7FF-65B29DE6DA4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5055" y="3372517"/>
            <a:ext cx="430387" cy="430387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A942788-CAF0-7622-8CC8-33F9AE60CE28}"/>
              </a:ext>
            </a:extLst>
          </p:cNvPr>
          <p:cNvSpPr/>
          <p:nvPr/>
        </p:nvSpPr>
        <p:spPr>
          <a:xfrm>
            <a:off x="178190" y="1770815"/>
            <a:ext cx="3470787" cy="8129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C68422-C654-8020-654F-4EC205833C74}"/>
              </a:ext>
            </a:extLst>
          </p:cNvPr>
          <p:cNvSpPr txBox="1"/>
          <p:nvPr/>
        </p:nvSpPr>
        <p:spPr>
          <a:xfrm>
            <a:off x="5725071" y="277898"/>
            <a:ext cx="536837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Poppins" panose="00000500000000000000" pitchFamily="2" charset="0"/>
                <a:cs typeface="Poppins" panose="00000500000000000000" pitchFamily="2" charset="0"/>
              </a:rPr>
              <a:t>OpenCV Pipeline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dirty="0">
                <a:cs typeface="Poppins" panose="00000500000000000000" pitchFamily="2" charset="0"/>
              </a:rPr>
              <a:t>Конверзија во </a:t>
            </a:r>
            <a:r>
              <a:rPr lang="en-US" sz="2000" dirty="0">
                <a:cs typeface="Poppins" panose="00000500000000000000" pitchFamily="2" charset="0"/>
              </a:rPr>
              <a:t>Grayscale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dirty="0">
                <a:cs typeface="Poppins" panose="00000500000000000000" pitchFamily="2" charset="0"/>
              </a:rPr>
              <a:t>Примена на </a:t>
            </a:r>
            <a:r>
              <a:rPr lang="en-US" sz="2000" dirty="0">
                <a:cs typeface="Poppins" panose="00000500000000000000" pitchFamily="2" charset="0"/>
              </a:rPr>
              <a:t>Gaussian Blur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Poppins" panose="00000500000000000000" pitchFamily="2" charset="0"/>
              </a:rPr>
              <a:t>Canny Edge Detector (</a:t>
            </a:r>
            <a:r>
              <a:rPr lang="mk-MK" sz="2000" dirty="0">
                <a:cs typeface="Poppins" panose="00000500000000000000" pitchFamily="2" charset="0"/>
              </a:rPr>
              <a:t>откривање на рабови)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dirty="0">
                <a:cs typeface="Poppins" panose="00000500000000000000" pitchFamily="2" charset="0"/>
              </a:rPr>
              <a:t>Маскирање во регион на интерес (</a:t>
            </a:r>
            <a:r>
              <a:rPr lang="en-US" sz="2000" dirty="0">
                <a:cs typeface="Poppins" panose="00000500000000000000" pitchFamily="2" charset="0"/>
              </a:rPr>
              <a:t>ROI)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Poppins" panose="00000500000000000000" pitchFamily="2" charset="0"/>
              </a:rPr>
              <a:t>Hough Transform </a:t>
            </a:r>
            <a:r>
              <a:rPr lang="mk-MK" sz="2000" dirty="0">
                <a:cs typeface="Poppins" panose="00000500000000000000" pitchFamily="2" charset="0"/>
              </a:rPr>
              <a:t>за екстракција на сегменти од кадарот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dirty="0">
                <a:cs typeface="Poppins" panose="00000500000000000000" pitchFamily="2" charset="0"/>
              </a:rPr>
              <a:t>Филтрирање на сегментите по </a:t>
            </a:r>
            <a:r>
              <a:rPr lang="en-US" sz="2000" dirty="0">
                <a:cs typeface="Poppins" panose="00000500000000000000" pitchFamily="2" charset="0"/>
              </a:rPr>
              <a:t>slope (</a:t>
            </a:r>
            <a:r>
              <a:rPr lang="mk-MK" sz="2000" dirty="0">
                <a:cs typeface="Poppins" panose="00000500000000000000" pitchFamily="2" charset="0"/>
              </a:rPr>
              <a:t>лево и десно)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dirty="0">
                <a:cs typeface="Poppins" panose="00000500000000000000" pitchFamily="2" charset="0"/>
              </a:rPr>
              <a:t>Временска импутација за поврзување на </a:t>
            </a:r>
            <a:br>
              <a:rPr lang="mk-MK" sz="2000" dirty="0">
                <a:cs typeface="Poppins" panose="00000500000000000000" pitchFamily="2" charset="0"/>
              </a:rPr>
            </a:br>
            <a:r>
              <a:rPr lang="mk-MK" sz="2000" dirty="0">
                <a:cs typeface="Poppins" panose="00000500000000000000" pitchFamily="2" charset="0"/>
              </a:rPr>
              <a:t>испрекинати линии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dirty="0">
                <a:cs typeface="Poppins" panose="00000500000000000000" pitchFamily="2" charset="0"/>
              </a:rPr>
              <a:t>Рендерирање на </a:t>
            </a:r>
            <a:r>
              <a:rPr lang="en-US" sz="2000" dirty="0">
                <a:cs typeface="Poppins" panose="00000500000000000000" pitchFamily="2" charset="0"/>
              </a:rPr>
              <a:t>Overlay</a:t>
            </a:r>
            <a:r>
              <a:rPr lang="mk-MK" sz="2000" dirty="0">
                <a:cs typeface="Poppins" panose="00000500000000000000" pitchFamily="2" charset="0"/>
              </a:rPr>
              <a:t> за да се прикажат линии на кадрите</a:t>
            </a:r>
            <a:endParaRPr lang="en-US" sz="2000" dirty="0">
              <a:cs typeface="Poppins" panose="00000500000000000000" pitchFamily="2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B86BB06-4BF6-260D-E80D-EE66481F71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9992" y="5273489"/>
            <a:ext cx="10654333" cy="102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51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8C7FB-6600-7B00-C4C1-F6BDC6AB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5F8918-1855-EA14-F8FA-15C84990DB91}"/>
              </a:ext>
            </a:extLst>
          </p:cNvPr>
          <p:cNvSpPr txBox="1"/>
          <p:nvPr/>
        </p:nvSpPr>
        <p:spPr>
          <a:xfrm>
            <a:off x="7108078" y="2611053"/>
            <a:ext cx="3632714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F4C75"/>
                </a:solidFill>
                <a:latin typeface="Calibri"/>
              </a:defRPr>
            </a:pPr>
            <a:endParaRPr lang="mk-MK" sz="1600" kern="120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7FE4D2-80B5-5917-2EEF-234C5716DEA0}"/>
              </a:ext>
            </a:extLst>
          </p:cNvPr>
          <p:cNvSpPr txBox="1"/>
          <p:nvPr/>
        </p:nvSpPr>
        <p:spPr>
          <a:xfrm>
            <a:off x="787395" y="1177444"/>
            <a:ext cx="2727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Податоци и претпроцесирање</a:t>
            </a:r>
          </a:p>
        </p:txBody>
      </p:sp>
      <p:pic>
        <p:nvPicPr>
          <p:cNvPr id="7" name="Graphic 6" descr="Lightbulb and gear with solid fill">
            <a:extLst>
              <a:ext uri="{FF2B5EF4-FFF2-40B4-BE49-F238E27FC236}">
                <a16:creationId xmlns:a16="http://schemas.microsoft.com/office/drawing/2014/main" id="{D76AF85C-79A0-78CE-D929-BDA578FF3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279" y="443972"/>
            <a:ext cx="495426" cy="4954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71098F-7CAB-18A4-58B7-52C408E0AABD}"/>
              </a:ext>
            </a:extLst>
          </p:cNvPr>
          <p:cNvSpPr txBox="1"/>
          <p:nvPr/>
        </p:nvSpPr>
        <p:spPr>
          <a:xfrm>
            <a:off x="751157" y="532832"/>
            <a:ext cx="2549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Вовед и мотивација</a:t>
            </a:r>
          </a:p>
        </p:txBody>
      </p:sp>
      <p:pic>
        <p:nvPicPr>
          <p:cNvPr id="24" name="Graphic 23" descr="Folder Search with solid fill">
            <a:extLst>
              <a:ext uri="{FF2B5EF4-FFF2-40B4-BE49-F238E27FC236}">
                <a16:creationId xmlns:a16="http://schemas.microsoft.com/office/drawing/2014/main" id="{EF4DF1AD-62E8-D005-A917-D3F87744B9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537" y="1196581"/>
            <a:ext cx="550910" cy="55091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8CA9F51-D870-F109-6092-D2F6C4B516CC}"/>
              </a:ext>
            </a:extLst>
          </p:cNvPr>
          <p:cNvSpPr txBox="1"/>
          <p:nvPr/>
        </p:nvSpPr>
        <p:spPr>
          <a:xfrm>
            <a:off x="735442" y="1882794"/>
            <a:ext cx="2831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/>
              <a:t>Методи: OpenCV pipeline и U-Net</a:t>
            </a:r>
          </a:p>
        </p:txBody>
      </p:sp>
      <p:pic>
        <p:nvPicPr>
          <p:cNvPr id="28" name="Graphic 27" descr="Circles with arrows outline">
            <a:extLst>
              <a:ext uri="{FF2B5EF4-FFF2-40B4-BE49-F238E27FC236}">
                <a16:creationId xmlns:a16="http://schemas.microsoft.com/office/drawing/2014/main" id="{71A42907-768F-EF22-1C91-472EDA58AD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638" y="1876393"/>
            <a:ext cx="550910" cy="55091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2BDA517-F80D-0409-3894-DED0BBFB0B0A}"/>
              </a:ext>
            </a:extLst>
          </p:cNvPr>
          <p:cNvSpPr txBox="1"/>
          <p:nvPr/>
        </p:nvSpPr>
        <p:spPr>
          <a:xfrm>
            <a:off x="686660" y="2775028"/>
            <a:ext cx="2880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Метрики и експерименти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6D312E-3D14-69AF-EB07-2D20857F4273}"/>
              </a:ext>
            </a:extLst>
          </p:cNvPr>
          <p:cNvSpPr txBox="1"/>
          <p:nvPr/>
        </p:nvSpPr>
        <p:spPr>
          <a:xfrm>
            <a:off x="802530" y="3384188"/>
            <a:ext cx="289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Дискусија, заклучок и идни насоки</a:t>
            </a:r>
          </a:p>
        </p:txBody>
      </p:sp>
      <p:pic>
        <p:nvPicPr>
          <p:cNvPr id="33" name="Graphic 32" descr="Flask outline">
            <a:extLst>
              <a:ext uri="{FF2B5EF4-FFF2-40B4-BE49-F238E27FC236}">
                <a16:creationId xmlns:a16="http://schemas.microsoft.com/office/drawing/2014/main" id="{B8213D82-D171-450C-DA6A-747343B498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739" y="2624829"/>
            <a:ext cx="614708" cy="614708"/>
          </a:xfrm>
          <a:prstGeom prst="rect">
            <a:avLst/>
          </a:prstGeom>
        </p:spPr>
      </p:pic>
      <p:pic>
        <p:nvPicPr>
          <p:cNvPr id="36" name="Graphic 35" descr="Storytelling with solid fill">
            <a:extLst>
              <a:ext uri="{FF2B5EF4-FFF2-40B4-BE49-F238E27FC236}">
                <a16:creationId xmlns:a16="http://schemas.microsoft.com/office/drawing/2014/main" id="{3B835AAC-BA61-6A0B-744B-D81B97967F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5055" y="3372517"/>
            <a:ext cx="430387" cy="430387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6E9AE32-9461-1F5E-1627-BC6C41DC3867}"/>
              </a:ext>
            </a:extLst>
          </p:cNvPr>
          <p:cNvSpPr/>
          <p:nvPr/>
        </p:nvSpPr>
        <p:spPr>
          <a:xfrm>
            <a:off x="178190" y="1770815"/>
            <a:ext cx="3470787" cy="8129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8CFF1A-F03E-8C01-9F1E-B57E64B42661}"/>
              </a:ext>
            </a:extLst>
          </p:cNvPr>
          <p:cNvSpPr txBox="1"/>
          <p:nvPr/>
        </p:nvSpPr>
        <p:spPr>
          <a:xfrm>
            <a:off x="390700" y="5819371"/>
            <a:ext cx="10694626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/>
              <a:t>Компромиси:</a:t>
            </a:r>
          </a:p>
          <a:p>
            <a:r>
              <a:rPr lang="mk-MK" sz="1500" noProof="0" dirty="0"/>
              <a:t>OpenCV → ефикасен, лесен за интерпретација, малку податоци, но чувствителен на осветлување и деградирани ознаки</a:t>
            </a:r>
          </a:p>
          <a:p>
            <a:r>
              <a:rPr lang="mk-MK" sz="1500" noProof="0" dirty="0"/>
              <a:t>U-Net → </a:t>
            </a:r>
            <a:r>
              <a:rPr lang="ru-RU" sz="1500" dirty="0"/>
              <a:t>прецизен и подобро се генерализира</a:t>
            </a:r>
            <a:r>
              <a:rPr lang="mk-MK" sz="1500" noProof="0" dirty="0"/>
              <a:t>, но потребни се повеќе ресурси и потреба од внимателна обука</a:t>
            </a:r>
          </a:p>
        </p:txBody>
      </p:sp>
      <p:pic>
        <p:nvPicPr>
          <p:cNvPr id="23" name="Picture 22" descr="A road with cars and people on it&#10;&#10;AI-generated content may be incorrect.">
            <a:extLst>
              <a:ext uri="{FF2B5EF4-FFF2-40B4-BE49-F238E27FC236}">
                <a16:creationId xmlns:a16="http://schemas.microsoft.com/office/drawing/2014/main" id="{93FDECF5-63DB-0A3F-44DA-8FB2CE49754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26732" y="4023235"/>
            <a:ext cx="3328083" cy="16575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79350D-205C-9721-6D2A-ABBEC3FCF210}"/>
              </a:ext>
            </a:extLst>
          </p:cNvPr>
          <p:cNvSpPr txBox="1"/>
          <p:nvPr/>
        </p:nvSpPr>
        <p:spPr>
          <a:xfrm>
            <a:off x="5738013" y="433039"/>
            <a:ext cx="6012084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latin typeface="Poppins" panose="00000500000000000000" pitchFamily="2" charset="0"/>
                <a:cs typeface="Poppins" panose="00000500000000000000" pitchFamily="2" charset="0"/>
              </a:rPr>
              <a:t>U-Net Pipeline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dirty="0">
                <a:cs typeface="Poppins" panose="00000500000000000000" pitchFamily="2" charset="0"/>
              </a:rPr>
              <a:t>Модуларна имплементација со </a:t>
            </a:r>
            <a:r>
              <a:rPr lang="en-US" dirty="0">
                <a:cs typeface="Poppins" panose="00000500000000000000" pitchFamily="2" charset="0"/>
              </a:rPr>
              <a:t>CLI (main.py)</a:t>
            </a:r>
            <a:r>
              <a:rPr lang="mk-MK" dirty="0">
                <a:cs typeface="Poppins" panose="00000500000000000000" pitchFamily="2" charset="0"/>
              </a:rPr>
              <a:t> за </a:t>
            </a:r>
            <a:r>
              <a:rPr lang="en-US" dirty="0">
                <a:cs typeface="Poppins" panose="00000500000000000000" pitchFamily="2" charset="0"/>
              </a:rPr>
              <a:t>prepare/train/infer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dirty="0">
                <a:cs typeface="Poppins" panose="00000500000000000000" pitchFamily="2" charset="0"/>
              </a:rPr>
              <a:t>Моделот е </a:t>
            </a:r>
            <a:r>
              <a:rPr lang="en-US" dirty="0">
                <a:cs typeface="Poppins" panose="00000500000000000000" pitchFamily="2" charset="0"/>
              </a:rPr>
              <a:t>encoder</a:t>
            </a:r>
            <a:r>
              <a:rPr lang="mk-MK" dirty="0">
                <a:cs typeface="Poppins" panose="00000500000000000000" pitchFamily="2" charset="0"/>
              </a:rPr>
              <a:t>-</a:t>
            </a:r>
            <a:r>
              <a:rPr lang="en-US" dirty="0">
                <a:cs typeface="Poppins" panose="00000500000000000000" pitchFamily="2" charset="0"/>
              </a:rPr>
              <a:t>decoder</a:t>
            </a:r>
            <a:r>
              <a:rPr lang="mk-MK" dirty="0">
                <a:cs typeface="Poppins" panose="00000500000000000000" pitchFamily="2" charset="0"/>
              </a:rPr>
              <a:t> со </a:t>
            </a:r>
            <a:r>
              <a:rPr lang="en-US" dirty="0">
                <a:cs typeface="Poppins" panose="00000500000000000000" pitchFamily="2" charset="0"/>
              </a:rPr>
              <a:t>skip connections, </a:t>
            </a:r>
            <a:r>
              <a:rPr lang="mk-MK" dirty="0">
                <a:cs typeface="Poppins" panose="00000500000000000000" pitchFamily="2" charset="0"/>
              </a:rPr>
              <a:t>и типичен влез (256</a:t>
            </a:r>
            <a:r>
              <a:rPr lang="en-US" dirty="0">
                <a:cs typeface="Poppins" panose="00000500000000000000" pitchFamily="2" charset="0"/>
              </a:rPr>
              <a:t>x512).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dirty="0">
                <a:cs typeface="Poppins" panose="00000500000000000000" pitchFamily="2" charset="0"/>
              </a:rPr>
              <a:t>Финален 1х1 </a:t>
            </a:r>
            <a:r>
              <a:rPr lang="en-US" dirty="0">
                <a:cs typeface="Poppins" panose="00000500000000000000" pitchFamily="2" charset="0"/>
              </a:rPr>
              <a:t>convolution + sigmoid</a:t>
            </a:r>
            <a:r>
              <a:rPr lang="mk-MK" dirty="0">
                <a:cs typeface="Poppins" panose="00000500000000000000" pitchFamily="2" charset="0"/>
              </a:rPr>
              <a:t> што враќа </a:t>
            </a:r>
            <a:r>
              <a:rPr lang="en-US" dirty="0">
                <a:cs typeface="Poppins" panose="00000500000000000000" pitchFamily="2" charset="0"/>
              </a:rPr>
              <a:t>probability map</a:t>
            </a:r>
            <a:endParaRPr lang="mk-MK" dirty="0"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dirty="0">
                <a:cs typeface="Poppins" panose="00000500000000000000" pitchFamily="2" charset="0"/>
              </a:rPr>
              <a:t>Тренингот се изведува со </a:t>
            </a:r>
            <a:r>
              <a:rPr lang="en-US" dirty="0">
                <a:cs typeface="Poppins" panose="00000500000000000000" pitchFamily="2" charset="0"/>
              </a:rPr>
              <a:t>Adam</a:t>
            </a:r>
            <a:r>
              <a:rPr lang="mk-MK" dirty="0">
                <a:cs typeface="Poppins" panose="00000500000000000000" pitchFamily="2" charset="0"/>
              </a:rPr>
              <a:t> оптимизатор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Poppins" panose="00000500000000000000" pitchFamily="2" charset="0"/>
              </a:rPr>
              <a:t>BCE</a:t>
            </a:r>
            <a:r>
              <a:rPr lang="mk-MK" dirty="0">
                <a:cs typeface="Poppins" panose="00000500000000000000" pitchFamily="2" charset="0"/>
              </a:rPr>
              <a:t> или </a:t>
            </a:r>
            <a:r>
              <a:rPr lang="en-US" dirty="0" err="1">
                <a:cs typeface="Poppins" panose="00000500000000000000" pitchFamily="2" charset="0"/>
              </a:rPr>
              <a:t>BCE+Dice</a:t>
            </a:r>
            <a:r>
              <a:rPr lang="mk-MK" dirty="0">
                <a:cs typeface="Poppins" panose="00000500000000000000" pitchFamily="2" charset="0"/>
              </a:rPr>
              <a:t> </a:t>
            </a:r>
            <a:r>
              <a:rPr lang="en-US" dirty="0">
                <a:cs typeface="Poppins" panose="00000500000000000000" pitchFamily="2" charset="0"/>
              </a:rPr>
              <a:t>loss </a:t>
            </a:r>
            <a:r>
              <a:rPr lang="mk-MK" dirty="0">
                <a:cs typeface="Poppins" panose="00000500000000000000" pitchFamily="2" charset="0"/>
              </a:rPr>
              <a:t>за справување со небаланс во класите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Poppins" panose="00000500000000000000" pitchFamily="2" charset="0"/>
              </a:rPr>
              <a:t>Early stopping </a:t>
            </a:r>
            <a:r>
              <a:rPr lang="mk-MK" dirty="0">
                <a:cs typeface="Poppins" panose="00000500000000000000" pitchFamily="2" charset="0"/>
              </a:rPr>
              <a:t>врз валидациски метрики (</a:t>
            </a:r>
            <a:r>
              <a:rPr lang="en-US" dirty="0" err="1">
                <a:cs typeface="Poppins" panose="00000500000000000000" pitchFamily="2" charset="0"/>
              </a:rPr>
              <a:t>IoU</a:t>
            </a:r>
            <a:r>
              <a:rPr lang="en-US" dirty="0">
                <a:cs typeface="Poppins" panose="00000500000000000000" pitchFamily="2" charset="0"/>
              </a:rPr>
              <a:t>)</a:t>
            </a:r>
            <a:endParaRPr lang="mk-MK" dirty="0"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dirty="0">
                <a:cs typeface="Poppins" panose="00000500000000000000" pitchFamily="2" charset="0"/>
              </a:rPr>
              <a:t>Хиперпараметрите се променливи (</a:t>
            </a:r>
            <a:r>
              <a:rPr lang="en-US" dirty="0">
                <a:cs typeface="Poppins" panose="00000500000000000000" pitchFamily="2" charset="0"/>
              </a:rPr>
              <a:t>batch size, epochs, brightness/contrast…)</a:t>
            </a:r>
            <a:endParaRPr lang="mk-MK" dirty="0"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dirty="0">
                <a:cs typeface="Poppins" panose="00000500000000000000" pitchFamily="2" charset="0"/>
              </a:rPr>
              <a:t>Инференцијата предвидува </a:t>
            </a:r>
            <a:r>
              <a:rPr lang="en-US" dirty="0">
                <a:cs typeface="Poppins" panose="00000500000000000000" pitchFamily="2" charset="0"/>
              </a:rPr>
              <a:t>probability map, </a:t>
            </a:r>
            <a:r>
              <a:rPr lang="mk-MK" dirty="0">
                <a:cs typeface="Poppins" panose="00000500000000000000" pitchFamily="2" charset="0"/>
              </a:rPr>
              <a:t>и применува </a:t>
            </a:r>
            <a:r>
              <a:rPr lang="en-US" dirty="0">
                <a:cs typeface="Poppins" panose="00000500000000000000" pitchFamily="2" charset="0"/>
              </a:rPr>
              <a:t>threshold (0.5) </a:t>
            </a:r>
            <a:r>
              <a:rPr lang="mk-MK" dirty="0">
                <a:cs typeface="Poppins" panose="00000500000000000000" pitchFamily="2" charset="0"/>
              </a:rPr>
              <a:t>за</a:t>
            </a:r>
            <a:r>
              <a:rPr lang="en-US" dirty="0">
                <a:cs typeface="Poppins" panose="00000500000000000000" pitchFamily="2" charset="0"/>
              </a:rPr>
              <a:t> </a:t>
            </a:r>
            <a:r>
              <a:rPr lang="mk-MK" dirty="0">
                <a:cs typeface="Poppins" panose="00000500000000000000" pitchFamily="2" charset="0"/>
              </a:rPr>
              <a:t>бинарна маска, опционално </a:t>
            </a:r>
            <a:r>
              <a:rPr lang="en-US" dirty="0">
                <a:cs typeface="Poppins" panose="00000500000000000000" pitchFamily="2" charset="0"/>
              </a:rPr>
              <a:t>morphological opening/closing </a:t>
            </a:r>
            <a:r>
              <a:rPr lang="mk-MK" dirty="0">
                <a:cs typeface="Poppins" panose="00000500000000000000" pitchFamily="2" charset="0"/>
              </a:rPr>
              <a:t>за чистење на мали </a:t>
            </a:r>
            <a:r>
              <a:rPr lang="en-US" dirty="0">
                <a:cs typeface="Poppins" panose="00000500000000000000" pitchFamily="2" charset="0"/>
              </a:rPr>
              <a:t>blob-</a:t>
            </a:r>
            <a:r>
              <a:rPr lang="mk-MK" dirty="0">
                <a:cs typeface="Poppins" panose="00000500000000000000" pitchFamily="2" charset="0"/>
              </a:rPr>
              <a:t>ови и </a:t>
            </a:r>
            <a:r>
              <a:rPr lang="en-US" dirty="0">
                <a:cs typeface="Poppins" panose="00000500000000000000" pitchFamily="2" charset="0"/>
              </a:rPr>
              <a:t>overlay </a:t>
            </a:r>
            <a:r>
              <a:rPr lang="mk-MK" dirty="0">
                <a:cs typeface="Poppins" panose="00000500000000000000" pitchFamily="2" charset="0"/>
              </a:rPr>
              <a:t>врз оригиналните кадри (</a:t>
            </a:r>
            <a:r>
              <a:rPr lang="en-US" dirty="0">
                <a:cs typeface="Poppins" panose="00000500000000000000" pitchFamily="2" charset="0"/>
              </a:rPr>
              <a:t>alpha blending) </a:t>
            </a:r>
            <a:r>
              <a:rPr lang="mk-MK" dirty="0">
                <a:cs typeface="Poppins" panose="00000500000000000000" pitchFamily="2" charset="0"/>
              </a:rPr>
              <a:t>за да се добие излезно видео.</a:t>
            </a:r>
            <a:endParaRPr lang="en-US" dirty="0"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006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B7C806-870E-FDBF-73F5-B037D361E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9555E5-E9D5-B13C-F2DF-CF9274DC6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3E91D6-15C1-1ED6-8FE6-2C05BBE2E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sz="800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E064D6-6BF1-2461-A3DC-40759421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9D14F3A-1FA4-9F03-023D-1FB37DDF4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B383556-295F-2988-1052-1EDD1B3237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56D6CE0-594A-6A56-41CA-40E899C107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210CE00-EB44-9C2B-9CDF-28108F7FFF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CE24EF9-3744-42BB-76A5-D5CB6A1C0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19D9036-9A50-813F-0139-4776637B99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B7B1EDA-F0CF-682E-C5F7-47B668C01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9CCFFF7-FD65-F81A-CFB0-EDC5DCA205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7FA8421-EBE2-B5B3-D4BD-4D14F74C1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C5140485-8A7F-C95A-F060-C49040945159}"/>
              </a:ext>
            </a:extLst>
          </p:cNvPr>
          <p:cNvSpPr txBox="1"/>
          <p:nvPr/>
        </p:nvSpPr>
        <p:spPr>
          <a:xfrm>
            <a:off x="787395" y="1177444"/>
            <a:ext cx="2727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Податоци и претпроцесирање</a:t>
            </a:r>
          </a:p>
        </p:txBody>
      </p:sp>
      <p:pic>
        <p:nvPicPr>
          <p:cNvPr id="39" name="Graphic 38" descr="Lightbulb and gear with solid fill">
            <a:extLst>
              <a:ext uri="{FF2B5EF4-FFF2-40B4-BE49-F238E27FC236}">
                <a16:creationId xmlns:a16="http://schemas.microsoft.com/office/drawing/2014/main" id="{DFFB5557-5620-0B8F-D90F-6E6EE3F05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279" y="443972"/>
            <a:ext cx="495426" cy="49542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70CDB02-6DA6-C294-BD9A-41A9994AEE4D}"/>
              </a:ext>
            </a:extLst>
          </p:cNvPr>
          <p:cNvSpPr txBox="1"/>
          <p:nvPr/>
        </p:nvSpPr>
        <p:spPr>
          <a:xfrm>
            <a:off x="751157" y="532832"/>
            <a:ext cx="2549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Вовед и мотивација</a:t>
            </a:r>
          </a:p>
        </p:txBody>
      </p:sp>
      <p:pic>
        <p:nvPicPr>
          <p:cNvPr id="41" name="Graphic 40" descr="Folder Search with solid fill">
            <a:extLst>
              <a:ext uri="{FF2B5EF4-FFF2-40B4-BE49-F238E27FC236}">
                <a16:creationId xmlns:a16="http://schemas.microsoft.com/office/drawing/2014/main" id="{D9175083-1A51-DB3C-6A66-7C9FC08EB0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537" y="1196581"/>
            <a:ext cx="550910" cy="55091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1DBEA3B-77B6-1262-D00C-1359257763E7}"/>
              </a:ext>
            </a:extLst>
          </p:cNvPr>
          <p:cNvSpPr txBox="1"/>
          <p:nvPr/>
        </p:nvSpPr>
        <p:spPr>
          <a:xfrm>
            <a:off x="735442" y="1882794"/>
            <a:ext cx="2831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Методи: OpenCV pipeline и U-Net</a:t>
            </a:r>
          </a:p>
        </p:txBody>
      </p:sp>
      <p:pic>
        <p:nvPicPr>
          <p:cNvPr id="43" name="Graphic 42" descr="Circles with arrows outline">
            <a:extLst>
              <a:ext uri="{FF2B5EF4-FFF2-40B4-BE49-F238E27FC236}">
                <a16:creationId xmlns:a16="http://schemas.microsoft.com/office/drawing/2014/main" id="{CAF80FB6-FFF9-17CA-F3FB-27F43D3B92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638" y="1876393"/>
            <a:ext cx="550910" cy="55091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1E74CAB7-7205-A2CD-FE7C-BF1F2A2B6C96}"/>
              </a:ext>
            </a:extLst>
          </p:cNvPr>
          <p:cNvSpPr txBox="1"/>
          <p:nvPr/>
        </p:nvSpPr>
        <p:spPr>
          <a:xfrm>
            <a:off x="686660" y="2775028"/>
            <a:ext cx="2880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mk-MK" sz="1600" noProof="0" dirty="0"/>
              <a:t>Метрики и експерименти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011E03-F909-AD8C-32F7-B122864D6248}"/>
              </a:ext>
            </a:extLst>
          </p:cNvPr>
          <p:cNvSpPr txBox="1"/>
          <p:nvPr/>
        </p:nvSpPr>
        <p:spPr>
          <a:xfrm>
            <a:off x="802530" y="3384188"/>
            <a:ext cx="289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Дискусија, заклучок и идни насоки</a:t>
            </a:r>
          </a:p>
        </p:txBody>
      </p:sp>
      <p:pic>
        <p:nvPicPr>
          <p:cNvPr id="46" name="Graphic 45" descr="Flask outline">
            <a:extLst>
              <a:ext uri="{FF2B5EF4-FFF2-40B4-BE49-F238E27FC236}">
                <a16:creationId xmlns:a16="http://schemas.microsoft.com/office/drawing/2014/main" id="{B9882DF2-AE64-26AA-2E36-DB3011ED2D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739" y="2605139"/>
            <a:ext cx="614708" cy="614708"/>
          </a:xfrm>
          <a:prstGeom prst="rect">
            <a:avLst/>
          </a:prstGeom>
        </p:spPr>
      </p:pic>
      <p:pic>
        <p:nvPicPr>
          <p:cNvPr id="47" name="Graphic 46" descr="Storytelling with solid fill">
            <a:extLst>
              <a:ext uri="{FF2B5EF4-FFF2-40B4-BE49-F238E27FC236}">
                <a16:creationId xmlns:a16="http://schemas.microsoft.com/office/drawing/2014/main" id="{7D91136D-C147-F783-8004-323D58F97E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5055" y="3372517"/>
            <a:ext cx="430387" cy="430387"/>
          </a:xfrm>
          <a:prstGeom prst="rect">
            <a:avLst/>
          </a:prstGeom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357DBAA-4DC6-FA3B-CE32-BAC9E0B5691B}"/>
              </a:ext>
            </a:extLst>
          </p:cNvPr>
          <p:cNvSpPr/>
          <p:nvPr/>
        </p:nvSpPr>
        <p:spPr>
          <a:xfrm>
            <a:off x="176234" y="2508112"/>
            <a:ext cx="3470787" cy="8129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7B88EB-2497-25C7-599B-094D5C5BB235}"/>
              </a:ext>
            </a:extLst>
          </p:cNvPr>
          <p:cNvSpPr txBox="1"/>
          <p:nvPr/>
        </p:nvSpPr>
        <p:spPr>
          <a:xfrm>
            <a:off x="4382158" y="727820"/>
            <a:ext cx="65218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noProof="0" dirty="0"/>
              <a:t>Сценарија за неуспех и ублажување: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b="1" noProof="0" dirty="0"/>
              <a:t>Осветлување</a:t>
            </a:r>
            <a:r>
              <a:rPr lang="mk-MK" noProof="0" dirty="0"/>
              <a:t> </a:t>
            </a:r>
            <a:r>
              <a:rPr lang="mk-MK" b="1" noProof="0" dirty="0"/>
              <a:t>и</a:t>
            </a:r>
            <a:r>
              <a:rPr lang="mk-MK" noProof="0" dirty="0"/>
              <a:t> </a:t>
            </a:r>
            <a:r>
              <a:rPr lang="mk-MK" b="1" noProof="0" dirty="0"/>
              <a:t>сенки</a:t>
            </a:r>
            <a:r>
              <a:rPr lang="mk-MK" noProof="0" dirty="0"/>
              <a:t>: изедначување на хистограм, фотометриско зголемување, адаптивно прагирање.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b="1" noProof="0" dirty="0"/>
              <a:t>Испрекинати</a:t>
            </a:r>
            <a:r>
              <a:rPr lang="mk-MK" noProof="0" dirty="0"/>
              <a:t> </a:t>
            </a:r>
            <a:r>
              <a:rPr lang="mk-MK" b="1" noProof="0" dirty="0"/>
              <a:t>линии</a:t>
            </a:r>
            <a:r>
              <a:rPr lang="mk-MK" noProof="0" dirty="0"/>
              <a:t>: спо</a:t>
            </a:r>
            <a:r>
              <a:rPr lang="en-US" noProof="0" dirty="0"/>
              <a:t>j</a:t>
            </a:r>
            <a:r>
              <a:rPr lang="mk-MK" noProof="0" dirty="0"/>
              <a:t>ување средни вредности помеѓу линии и импутаци</a:t>
            </a:r>
            <a:r>
              <a:rPr lang="en-US" noProof="0" dirty="0"/>
              <a:t>j</a:t>
            </a:r>
            <a:r>
              <a:rPr lang="mk-MK" noProof="0" dirty="0"/>
              <a:t>а; зголемени </a:t>
            </a:r>
            <a:r>
              <a:rPr lang="en-US" noProof="0" dirty="0"/>
              <a:t>Hough gap </a:t>
            </a:r>
            <a:r>
              <a:rPr lang="mk-MK" noProof="0" dirty="0"/>
              <a:t>вредности.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b="1" noProof="0" dirty="0"/>
              <a:t>Кривини</a:t>
            </a:r>
            <a:r>
              <a:rPr lang="mk-MK" noProof="0" dirty="0"/>
              <a:t> </a:t>
            </a:r>
            <a:r>
              <a:rPr lang="mk-MK" b="1" noProof="0" dirty="0"/>
              <a:t>на</a:t>
            </a:r>
            <a:r>
              <a:rPr lang="mk-MK" noProof="0" dirty="0"/>
              <a:t> </a:t>
            </a:r>
            <a:r>
              <a:rPr lang="mk-MK" b="1" noProof="0" dirty="0"/>
              <a:t>коловозот</a:t>
            </a:r>
            <a:r>
              <a:rPr lang="mk-MK" noProof="0" dirty="0"/>
              <a:t>: тренирање полиномни кривини или користење на </a:t>
            </a:r>
            <a:r>
              <a:rPr lang="en-US" noProof="0" dirty="0"/>
              <a:t>IPM (</a:t>
            </a:r>
            <a:r>
              <a:rPr lang="en-US" dirty="0"/>
              <a:t>Inverse perspective mapping)</a:t>
            </a:r>
            <a:r>
              <a:rPr lang="en-US" noProof="0" dirty="0"/>
              <a:t> </a:t>
            </a:r>
            <a:r>
              <a:rPr lang="mk-MK" noProof="0" dirty="0"/>
              <a:t>и </a:t>
            </a:r>
            <a:r>
              <a:rPr lang="en-US" noProof="0" dirty="0"/>
              <a:t>spline fitting.</a:t>
            </a:r>
            <a:endParaRPr lang="mk-MK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1C38C1-3C4A-D34D-DA9E-ED7E744060BF}"/>
              </a:ext>
            </a:extLst>
          </p:cNvPr>
          <p:cNvSpPr txBox="1"/>
          <p:nvPr/>
        </p:nvSpPr>
        <p:spPr>
          <a:xfrm>
            <a:off x="6492854" y="4208408"/>
            <a:ext cx="51344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noProof="0" dirty="0"/>
              <a:t>Предизвици: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noProof="0" dirty="0"/>
              <a:t>Репродуктивност</a:t>
            </a:r>
            <a:endParaRPr lang="mk-M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noProof="0" dirty="0"/>
              <a:t>пристрасност во податоците (dataset bias)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noProof="0" dirty="0"/>
              <a:t>Шум во анотациите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O</a:t>
            </a:r>
            <a:r>
              <a:rPr lang="ru-RU" noProof="0" dirty="0"/>
              <a:t>verfitting</a:t>
            </a:r>
            <a:r>
              <a:rPr lang="ru-RU" dirty="0"/>
              <a:t> на моделите</a:t>
            </a:r>
            <a:endParaRPr lang="mk-MK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157EFA-D0DD-C769-567D-434A16A7D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81" y="4083724"/>
            <a:ext cx="5230789" cy="2621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030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B773EC-5BE8-D5FF-09FF-FF9F3222F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701C8A0-90A7-1FD0-D22F-12017C10F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249645-06E3-B42F-C2A9-652718E8F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sz="800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2BF16-4783-D335-070E-E1AF4A47B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B0D54F-9111-FE45-13AF-5B3BA6A71F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EED2254-4658-2708-B3FC-7EAD8F713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A4B8294-C78F-4AA2-3F44-E7A961A46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CA14BDF-A637-B46C-E676-03361E756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726072-6257-A3EC-74E9-577375C0A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E0C1B62-C0B4-B555-3AE3-5FBA409D5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9F317B-5C25-885B-38C5-A61C7CABF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D8DBF01-1F7B-7559-020E-B34DED897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2D65718-FCD4-E08C-16D5-A3C73479C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pic>
        <p:nvPicPr>
          <p:cNvPr id="29" name="Picture 28" descr="A road with a blue line on it&#10;&#10;AI-generated content may be incorrect.">
            <a:extLst>
              <a:ext uri="{FF2B5EF4-FFF2-40B4-BE49-F238E27FC236}">
                <a16:creationId xmlns:a16="http://schemas.microsoft.com/office/drawing/2014/main" id="{ACC6FA22-DDDD-4E7A-768D-6416DB829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760" y="4111489"/>
            <a:ext cx="4452323" cy="25044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Picture 32" descr="A road with trees and power lines&#10;&#10;AI-generated content may be incorrect.">
            <a:extLst>
              <a:ext uri="{FF2B5EF4-FFF2-40B4-BE49-F238E27FC236}">
                <a16:creationId xmlns:a16="http://schemas.microsoft.com/office/drawing/2014/main" id="{1C077CF8-201B-F959-CBF5-F0612A049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990" y="1479320"/>
            <a:ext cx="4384617" cy="24663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992DDD1-6CE8-1D7C-646A-4B190E1756C3}"/>
              </a:ext>
            </a:extLst>
          </p:cNvPr>
          <p:cNvSpPr txBox="1"/>
          <p:nvPr/>
        </p:nvSpPr>
        <p:spPr>
          <a:xfrm>
            <a:off x="8841471" y="2650883"/>
            <a:ext cx="1879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2800" noProof="0" dirty="0"/>
              <a:t>OpenCV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486C22-F67D-9EC5-0D13-B658BDDD7EAA}"/>
              </a:ext>
            </a:extLst>
          </p:cNvPr>
          <p:cNvSpPr txBox="1"/>
          <p:nvPr/>
        </p:nvSpPr>
        <p:spPr>
          <a:xfrm>
            <a:off x="6257356" y="5173209"/>
            <a:ext cx="1160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mk-MK" sz="2800" noProof="0" dirty="0"/>
              <a:t>U-Net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D2493E-2A1B-4B3B-D532-C29087886B61}"/>
              </a:ext>
            </a:extLst>
          </p:cNvPr>
          <p:cNvSpPr txBox="1"/>
          <p:nvPr/>
        </p:nvSpPr>
        <p:spPr>
          <a:xfrm>
            <a:off x="787395" y="1177444"/>
            <a:ext cx="2727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Податоци и претпроцесирање</a:t>
            </a:r>
          </a:p>
        </p:txBody>
      </p:sp>
      <p:pic>
        <p:nvPicPr>
          <p:cNvPr id="39" name="Graphic 38" descr="Lightbulb and gear with solid fill">
            <a:extLst>
              <a:ext uri="{FF2B5EF4-FFF2-40B4-BE49-F238E27FC236}">
                <a16:creationId xmlns:a16="http://schemas.microsoft.com/office/drawing/2014/main" id="{BD53CAC0-9B03-23D6-F2D0-31B2DC8385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2279" y="443972"/>
            <a:ext cx="495426" cy="49542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D61409C-2DE6-3494-C6F8-2D9877AEE22D}"/>
              </a:ext>
            </a:extLst>
          </p:cNvPr>
          <p:cNvSpPr txBox="1"/>
          <p:nvPr/>
        </p:nvSpPr>
        <p:spPr>
          <a:xfrm>
            <a:off x="751157" y="532832"/>
            <a:ext cx="2549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Вовед и мотивација</a:t>
            </a:r>
          </a:p>
        </p:txBody>
      </p:sp>
      <p:pic>
        <p:nvPicPr>
          <p:cNvPr id="41" name="Graphic 40" descr="Folder Search with solid fill">
            <a:extLst>
              <a:ext uri="{FF2B5EF4-FFF2-40B4-BE49-F238E27FC236}">
                <a16:creationId xmlns:a16="http://schemas.microsoft.com/office/drawing/2014/main" id="{6DF91CAE-EBED-F4F6-E1FF-39434D369E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4537" y="1196581"/>
            <a:ext cx="550910" cy="55091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4857148-DAFD-47F1-0597-B75E06512DE6}"/>
              </a:ext>
            </a:extLst>
          </p:cNvPr>
          <p:cNvSpPr txBox="1"/>
          <p:nvPr/>
        </p:nvSpPr>
        <p:spPr>
          <a:xfrm>
            <a:off x="735442" y="1882794"/>
            <a:ext cx="2831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Методи: OpenCV pipeline и U-Net</a:t>
            </a:r>
          </a:p>
        </p:txBody>
      </p:sp>
      <p:pic>
        <p:nvPicPr>
          <p:cNvPr id="43" name="Graphic 42" descr="Circles with arrows outline">
            <a:extLst>
              <a:ext uri="{FF2B5EF4-FFF2-40B4-BE49-F238E27FC236}">
                <a16:creationId xmlns:a16="http://schemas.microsoft.com/office/drawing/2014/main" id="{BCFEA9CD-8E1A-88B3-C238-07555D2B51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638" y="1876393"/>
            <a:ext cx="550910" cy="55091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BF215AC3-5D31-4FB2-30D3-84CBFF34AE78}"/>
              </a:ext>
            </a:extLst>
          </p:cNvPr>
          <p:cNvSpPr txBox="1"/>
          <p:nvPr/>
        </p:nvSpPr>
        <p:spPr>
          <a:xfrm>
            <a:off x="686660" y="2775028"/>
            <a:ext cx="2880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mk-MK" sz="1600" noProof="0" dirty="0"/>
              <a:t>Метрики и експерименти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2CD789-4A5B-C414-0BBE-BEF03BA398B3}"/>
              </a:ext>
            </a:extLst>
          </p:cNvPr>
          <p:cNvSpPr txBox="1"/>
          <p:nvPr/>
        </p:nvSpPr>
        <p:spPr>
          <a:xfrm>
            <a:off x="802530" y="3384188"/>
            <a:ext cx="289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Дискусија, заклучок и идни насоки</a:t>
            </a:r>
          </a:p>
        </p:txBody>
      </p:sp>
      <p:pic>
        <p:nvPicPr>
          <p:cNvPr id="46" name="Graphic 45" descr="Flask outline">
            <a:extLst>
              <a:ext uri="{FF2B5EF4-FFF2-40B4-BE49-F238E27FC236}">
                <a16:creationId xmlns:a16="http://schemas.microsoft.com/office/drawing/2014/main" id="{22D85F9A-9581-C060-3E3A-7DF2CE40BA4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739" y="2605139"/>
            <a:ext cx="614708" cy="614708"/>
          </a:xfrm>
          <a:prstGeom prst="rect">
            <a:avLst/>
          </a:prstGeom>
        </p:spPr>
      </p:pic>
      <p:pic>
        <p:nvPicPr>
          <p:cNvPr id="47" name="Graphic 46" descr="Storytelling with solid fill">
            <a:extLst>
              <a:ext uri="{FF2B5EF4-FFF2-40B4-BE49-F238E27FC236}">
                <a16:creationId xmlns:a16="http://schemas.microsoft.com/office/drawing/2014/main" id="{B29480FF-17EF-9EB3-DBEE-8D53D3BE2F7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5055" y="3372517"/>
            <a:ext cx="430387" cy="430387"/>
          </a:xfrm>
          <a:prstGeom prst="rect">
            <a:avLst/>
          </a:prstGeom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6813CAA-D5CD-85B1-2EA6-862EA7BC6FEE}"/>
              </a:ext>
            </a:extLst>
          </p:cNvPr>
          <p:cNvSpPr/>
          <p:nvPr/>
        </p:nvSpPr>
        <p:spPr>
          <a:xfrm>
            <a:off x="176234" y="2508112"/>
            <a:ext cx="3470787" cy="8129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C6BB20-7DCC-EA72-6DC6-32A8469102CA}"/>
              </a:ext>
            </a:extLst>
          </p:cNvPr>
          <p:cNvSpPr txBox="1"/>
          <p:nvPr/>
        </p:nvSpPr>
        <p:spPr>
          <a:xfrm>
            <a:off x="6079463" y="440499"/>
            <a:ext cx="438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2800" noProof="0" dirty="0"/>
              <a:t>Квалитативни резултати</a:t>
            </a:r>
          </a:p>
        </p:txBody>
      </p:sp>
    </p:spTree>
    <p:extLst>
      <p:ext uri="{BB962C8B-B14F-4D97-AF65-F5344CB8AC3E}">
        <p14:creationId xmlns:p14="http://schemas.microsoft.com/office/powerpoint/2010/main" val="4142881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0E7367-B325-4079-01C3-427610DB5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E4C1CF-F922-8904-B681-5AED860AD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613CB7-3F1E-8A09-C632-ED048B1E5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sz="800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970D996-D14E-E121-A972-E758F9080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4E2C6DF-864C-2E4E-3E68-D6AA2B6FE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13BA217-95FB-27D8-1E02-125DA78047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E339B49-6FA2-5E50-1E29-EEE1586F4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8C95F22-1FFE-CF07-1CFE-71E930B0B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8DBCDAE-5DE6-F53F-60CF-26F21561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2E8D6B6-F024-3731-44B3-E4C1789D8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17A9788-42CB-08DA-023B-A91424FA3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B7C20CC-79CD-AE30-B551-763AF0088C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C22ECA-0F95-4358-AB44-CF11C69D0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3DABC9C-6632-B5A7-7504-186B7ECEB2D0}"/>
              </a:ext>
            </a:extLst>
          </p:cNvPr>
          <p:cNvSpPr txBox="1"/>
          <p:nvPr/>
        </p:nvSpPr>
        <p:spPr>
          <a:xfrm>
            <a:off x="787395" y="5218967"/>
            <a:ext cx="73283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  <a:latin typeface="Courier New"/>
              </a:defRPr>
            </a:pPr>
            <a:r>
              <a:rPr lang="mk-MK" sz="1600" b="1" noProof="0" dirty="0"/>
              <a:t>Метод     | IoU  | PixelAcc | Precision | Recall | F1</a:t>
            </a:r>
            <a:br>
              <a:rPr lang="mk-MK" sz="1600" b="1" noProof="0" dirty="0"/>
            </a:br>
            <a:r>
              <a:rPr lang="mk-MK" sz="1600" b="1" noProof="0" dirty="0"/>
              <a:t>----------------------------------------------------</a:t>
            </a:r>
            <a:br>
              <a:rPr lang="mk-MK" sz="1600" b="1" noProof="0" dirty="0"/>
            </a:br>
            <a:r>
              <a:rPr lang="mk-MK" sz="1600" b="1" noProof="0" dirty="0"/>
              <a:t>OpenCV    | 0.52 | 0.95     | 0.61      | 0.52   | 0.54</a:t>
            </a:r>
            <a:br>
              <a:rPr lang="mk-MK" sz="1600" b="1" noProof="0" dirty="0"/>
            </a:br>
            <a:r>
              <a:rPr lang="mk-MK" sz="1600" b="1" noProof="0" dirty="0"/>
              <a:t>U-Net     | 0.68 | 0.94     | 0.77      | 0.73   | 0.79</a:t>
            </a:r>
            <a:br>
              <a:rPr lang="mk-MK" sz="1600" b="1" noProof="0" dirty="0"/>
            </a:br>
            <a:endParaRPr lang="mk-MK" sz="1600" b="1" noProof="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90EE97-EEE7-826B-B051-13F683D10D47}"/>
              </a:ext>
            </a:extLst>
          </p:cNvPr>
          <p:cNvSpPr txBox="1"/>
          <p:nvPr/>
        </p:nvSpPr>
        <p:spPr>
          <a:xfrm>
            <a:off x="787395" y="1177444"/>
            <a:ext cx="2727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Податоци и претпроцесирање</a:t>
            </a:r>
          </a:p>
        </p:txBody>
      </p:sp>
      <p:pic>
        <p:nvPicPr>
          <p:cNvPr id="39" name="Graphic 38" descr="Lightbulb and gear with solid fill">
            <a:extLst>
              <a:ext uri="{FF2B5EF4-FFF2-40B4-BE49-F238E27FC236}">
                <a16:creationId xmlns:a16="http://schemas.microsoft.com/office/drawing/2014/main" id="{4F24F5DF-3377-516F-4D66-3746B15DE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279" y="443972"/>
            <a:ext cx="495426" cy="49542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F35B93-4663-CFC8-6A6D-7F292E840F14}"/>
              </a:ext>
            </a:extLst>
          </p:cNvPr>
          <p:cNvSpPr txBox="1"/>
          <p:nvPr/>
        </p:nvSpPr>
        <p:spPr>
          <a:xfrm>
            <a:off x="751157" y="532832"/>
            <a:ext cx="2549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Вовед и мотивација</a:t>
            </a:r>
          </a:p>
        </p:txBody>
      </p:sp>
      <p:pic>
        <p:nvPicPr>
          <p:cNvPr id="41" name="Graphic 40" descr="Folder Search with solid fill">
            <a:extLst>
              <a:ext uri="{FF2B5EF4-FFF2-40B4-BE49-F238E27FC236}">
                <a16:creationId xmlns:a16="http://schemas.microsoft.com/office/drawing/2014/main" id="{FA9E987C-5BB0-AF62-C1F7-26AA6ECCC9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537" y="1196581"/>
            <a:ext cx="550910" cy="55091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029B2CC-ECCF-DAB4-B984-03F32A127DF2}"/>
              </a:ext>
            </a:extLst>
          </p:cNvPr>
          <p:cNvSpPr txBox="1"/>
          <p:nvPr/>
        </p:nvSpPr>
        <p:spPr>
          <a:xfrm>
            <a:off x="735442" y="1882794"/>
            <a:ext cx="2831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Методи: OpenCV pipeline и U-Net</a:t>
            </a:r>
          </a:p>
        </p:txBody>
      </p:sp>
      <p:pic>
        <p:nvPicPr>
          <p:cNvPr id="43" name="Graphic 42" descr="Circles with arrows outline">
            <a:extLst>
              <a:ext uri="{FF2B5EF4-FFF2-40B4-BE49-F238E27FC236}">
                <a16:creationId xmlns:a16="http://schemas.microsoft.com/office/drawing/2014/main" id="{9B8733D7-3832-7ABD-6C88-0A622AF674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638" y="1876393"/>
            <a:ext cx="550910" cy="55091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88A85927-CEEA-79D9-47A6-ED81059D9AD0}"/>
              </a:ext>
            </a:extLst>
          </p:cNvPr>
          <p:cNvSpPr txBox="1"/>
          <p:nvPr/>
        </p:nvSpPr>
        <p:spPr>
          <a:xfrm>
            <a:off x="686660" y="2775028"/>
            <a:ext cx="2880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mk-MK" sz="1600" noProof="0" dirty="0"/>
              <a:t>Метрики и експерименти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E625E6-4241-8C63-FC80-3CEE7278E898}"/>
              </a:ext>
            </a:extLst>
          </p:cNvPr>
          <p:cNvSpPr txBox="1"/>
          <p:nvPr/>
        </p:nvSpPr>
        <p:spPr>
          <a:xfrm>
            <a:off x="802530" y="3384188"/>
            <a:ext cx="289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Дискусија, заклучок и идни насоки</a:t>
            </a:r>
          </a:p>
        </p:txBody>
      </p:sp>
      <p:pic>
        <p:nvPicPr>
          <p:cNvPr id="46" name="Graphic 45" descr="Flask outline">
            <a:extLst>
              <a:ext uri="{FF2B5EF4-FFF2-40B4-BE49-F238E27FC236}">
                <a16:creationId xmlns:a16="http://schemas.microsoft.com/office/drawing/2014/main" id="{4291980A-4DFD-A8AE-AED6-28C34906EE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739" y="2605139"/>
            <a:ext cx="614708" cy="614708"/>
          </a:xfrm>
          <a:prstGeom prst="rect">
            <a:avLst/>
          </a:prstGeom>
        </p:spPr>
      </p:pic>
      <p:pic>
        <p:nvPicPr>
          <p:cNvPr id="47" name="Graphic 46" descr="Storytelling with solid fill">
            <a:extLst>
              <a:ext uri="{FF2B5EF4-FFF2-40B4-BE49-F238E27FC236}">
                <a16:creationId xmlns:a16="http://schemas.microsoft.com/office/drawing/2014/main" id="{CFA56368-1BA7-158F-C53A-FE5383D011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5055" y="3372517"/>
            <a:ext cx="430387" cy="430387"/>
          </a:xfrm>
          <a:prstGeom prst="rect">
            <a:avLst/>
          </a:prstGeom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AF96416-E23E-B674-D77C-692FF1EAB7F8}"/>
              </a:ext>
            </a:extLst>
          </p:cNvPr>
          <p:cNvSpPr/>
          <p:nvPr/>
        </p:nvSpPr>
        <p:spPr>
          <a:xfrm>
            <a:off x="176234" y="2508112"/>
            <a:ext cx="3470787" cy="8129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BA9CEFAD-25F8-0FA8-059C-C941E46265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8793583"/>
              </p:ext>
            </p:extLst>
          </p:nvPr>
        </p:nvGraphicFramePr>
        <p:xfrm>
          <a:off x="4866572" y="1196581"/>
          <a:ext cx="6486504" cy="3887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027757F-0954-869F-A0C3-BDA5CB9A9170}"/>
              </a:ext>
            </a:extLst>
          </p:cNvPr>
          <p:cNvSpPr txBox="1"/>
          <p:nvPr/>
        </p:nvSpPr>
        <p:spPr>
          <a:xfrm>
            <a:off x="6079463" y="440499"/>
            <a:ext cx="438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2800" dirty="0"/>
              <a:t>Квантитативни </a:t>
            </a:r>
            <a:r>
              <a:rPr lang="mk-MK" sz="2800" noProof="0" dirty="0"/>
              <a:t>резултати</a:t>
            </a:r>
          </a:p>
        </p:txBody>
      </p:sp>
    </p:spTree>
    <p:extLst>
      <p:ext uri="{BB962C8B-B14F-4D97-AF65-F5344CB8AC3E}">
        <p14:creationId xmlns:p14="http://schemas.microsoft.com/office/powerpoint/2010/main" val="131197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0073E8-DB25-415B-92F1-21F3BE633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AB944B-A7FF-2739-D147-0764FF7B9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5C6C75-7C7D-2B43-D267-D035C5ED5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sz="800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586154-4916-5AE2-FB18-B9E40328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4105C61-F765-2154-C930-2A15BFC37C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7AEB791-8158-81DB-13B1-2CC6FD402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1A0A955-EDC1-0C7E-6E05-6CE5EB4F3E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42C3FB5-F9E7-F14B-0BA8-563A607061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6DAEF1-F905-EF00-92A7-56E40E8E9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2FE284E-457A-5478-C721-B6BF1D46B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B255EFB-2368-3A28-65F7-C2168DAB1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153C57-5E2C-B04D-15B6-F588D52791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051C45F-5D46-E18D-8970-D9C89A4B4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2957332-44E5-1F6C-DBC1-8F7E16D74CAE}"/>
              </a:ext>
            </a:extLst>
          </p:cNvPr>
          <p:cNvSpPr txBox="1"/>
          <p:nvPr/>
        </p:nvSpPr>
        <p:spPr>
          <a:xfrm>
            <a:off x="787395" y="1177444"/>
            <a:ext cx="2727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Податоци и претпроцесирање</a:t>
            </a:r>
          </a:p>
        </p:txBody>
      </p:sp>
      <p:pic>
        <p:nvPicPr>
          <p:cNvPr id="6" name="Graphic 5" descr="Lightbulb and gear with solid fill">
            <a:extLst>
              <a:ext uri="{FF2B5EF4-FFF2-40B4-BE49-F238E27FC236}">
                <a16:creationId xmlns:a16="http://schemas.microsoft.com/office/drawing/2014/main" id="{CF9C37E2-980D-EB78-0698-52D58140B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279" y="443972"/>
            <a:ext cx="495426" cy="4954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F0F62B-CB43-5780-51AC-4AD4B6C55624}"/>
              </a:ext>
            </a:extLst>
          </p:cNvPr>
          <p:cNvSpPr txBox="1"/>
          <p:nvPr/>
        </p:nvSpPr>
        <p:spPr>
          <a:xfrm>
            <a:off x="751157" y="532832"/>
            <a:ext cx="2549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Вовед и мотивација</a:t>
            </a:r>
          </a:p>
        </p:txBody>
      </p:sp>
      <p:pic>
        <p:nvPicPr>
          <p:cNvPr id="11" name="Graphic 10" descr="Folder Search with solid fill">
            <a:extLst>
              <a:ext uri="{FF2B5EF4-FFF2-40B4-BE49-F238E27FC236}">
                <a16:creationId xmlns:a16="http://schemas.microsoft.com/office/drawing/2014/main" id="{99B427B0-1097-76A6-9A55-6AB892D61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537" y="1196581"/>
            <a:ext cx="550910" cy="55091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80BDC15-FC10-9F6A-1371-75D580D46153}"/>
              </a:ext>
            </a:extLst>
          </p:cNvPr>
          <p:cNvSpPr txBox="1"/>
          <p:nvPr/>
        </p:nvSpPr>
        <p:spPr>
          <a:xfrm>
            <a:off x="735442" y="1882794"/>
            <a:ext cx="2831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Методи: OpenCV pipeline и U-Net</a:t>
            </a:r>
          </a:p>
        </p:txBody>
      </p:sp>
      <p:pic>
        <p:nvPicPr>
          <p:cNvPr id="26" name="Graphic 25" descr="Circles with arrows outline">
            <a:extLst>
              <a:ext uri="{FF2B5EF4-FFF2-40B4-BE49-F238E27FC236}">
                <a16:creationId xmlns:a16="http://schemas.microsoft.com/office/drawing/2014/main" id="{1FDDBA85-9116-D253-7806-AE842C57D4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638" y="1876393"/>
            <a:ext cx="550910" cy="55091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F917DC5-2DA3-C15F-7F07-E0623A75D8FE}"/>
              </a:ext>
            </a:extLst>
          </p:cNvPr>
          <p:cNvSpPr txBox="1"/>
          <p:nvPr/>
        </p:nvSpPr>
        <p:spPr>
          <a:xfrm>
            <a:off x="686660" y="2775028"/>
            <a:ext cx="2880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Метрики и експерименти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86DA42-BD74-5D4A-2DBA-9280A1593078}"/>
              </a:ext>
            </a:extLst>
          </p:cNvPr>
          <p:cNvSpPr txBox="1"/>
          <p:nvPr/>
        </p:nvSpPr>
        <p:spPr>
          <a:xfrm>
            <a:off x="802530" y="3384188"/>
            <a:ext cx="289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/>
              <a:t>Дискусија, заклучок и идни насоки</a:t>
            </a:r>
          </a:p>
        </p:txBody>
      </p:sp>
      <p:pic>
        <p:nvPicPr>
          <p:cNvPr id="31" name="Graphic 30" descr="Flask outline">
            <a:extLst>
              <a:ext uri="{FF2B5EF4-FFF2-40B4-BE49-F238E27FC236}">
                <a16:creationId xmlns:a16="http://schemas.microsoft.com/office/drawing/2014/main" id="{9239B9A8-F480-25D8-9B55-C090BC4B8A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2687" y="2594292"/>
            <a:ext cx="614708" cy="614708"/>
          </a:xfrm>
          <a:prstGeom prst="rect">
            <a:avLst/>
          </a:prstGeom>
        </p:spPr>
      </p:pic>
      <p:pic>
        <p:nvPicPr>
          <p:cNvPr id="33" name="Graphic 32" descr="Storytelling with solid fill">
            <a:extLst>
              <a:ext uri="{FF2B5EF4-FFF2-40B4-BE49-F238E27FC236}">
                <a16:creationId xmlns:a16="http://schemas.microsoft.com/office/drawing/2014/main" id="{CD9C4F00-18B5-2322-522E-A089D0A906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5055" y="3372517"/>
            <a:ext cx="430387" cy="430387"/>
          </a:xfrm>
          <a:prstGeom prst="rect">
            <a:avLst/>
          </a:prstGeom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A6D6B6E-CC79-1BCF-40F8-655D171F6BF1}"/>
              </a:ext>
            </a:extLst>
          </p:cNvPr>
          <p:cNvSpPr/>
          <p:nvPr/>
        </p:nvSpPr>
        <p:spPr>
          <a:xfrm>
            <a:off x="190739" y="3248071"/>
            <a:ext cx="3470787" cy="8129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96BDB-6B45-0F05-03F3-0A4B2539FA9C}"/>
              </a:ext>
            </a:extLst>
          </p:cNvPr>
          <p:cNvSpPr txBox="1"/>
          <p:nvPr/>
        </p:nvSpPr>
        <p:spPr>
          <a:xfrm>
            <a:off x="4563469" y="3968963"/>
            <a:ext cx="5543541" cy="2457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latin typeface="Calibri"/>
              </a:defRPr>
            </a:pPr>
            <a:endParaRPr lang="mk-MK" sz="1600" noProof="0" dirty="0">
              <a:solidFill>
                <a:schemeClr val="tx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27141E-8BB5-5A6C-F6DB-73A96BC29036}"/>
              </a:ext>
            </a:extLst>
          </p:cNvPr>
          <p:cNvSpPr/>
          <p:nvPr/>
        </p:nvSpPr>
        <p:spPr>
          <a:xfrm>
            <a:off x="4297099" y="3014768"/>
            <a:ext cx="6126611" cy="1148302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491CA5-D674-C1AC-0848-ED4D7E28E746}"/>
              </a:ext>
            </a:extLst>
          </p:cNvPr>
          <p:cNvSpPr/>
          <p:nvPr/>
        </p:nvSpPr>
        <p:spPr>
          <a:xfrm>
            <a:off x="4223532" y="443458"/>
            <a:ext cx="6467680" cy="1212228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3E3267-1FDB-657C-2552-6ABE39B7D085}"/>
              </a:ext>
            </a:extLst>
          </p:cNvPr>
          <p:cNvSpPr txBox="1"/>
          <p:nvPr/>
        </p:nvSpPr>
        <p:spPr>
          <a:xfrm>
            <a:off x="3756612" y="110085"/>
            <a:ext cx="7632858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Заклучок</a:t>
            </a:r>
            <a:br>
              <a:rPr lang="ru-RU" sz="1100" dirty="0"/>
            </a:br>
            <a:r>
              <a:rPr lang="ru-RU" sz="1100" dirty="0"/>
              <a:t> 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Дв</a:t>
            </a:r>
            <a:r>
              <a:rPr lang="mk-MK" dirty="0"/>
              <a:t>а различни пристапи </a:t>
            </a:r>
            <a:r>
              <a:rPr lang="ru-RU" dirty="0"/>
              <a:t>OpenCV (детерминистичка) и U-Net (длабоко учење) </a:t>
            </a:r>
            <a:r>
              <a:rPr lang="en-US" dirty="0"/>
              <a:t>-</a:t>
            </a:r>
            <a:r>
              <a:rPr lang="ru-RU" dirty="0"/>
              <a:t> можат да коегзистираат и да се надополнуваат.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OpenCV </a:t>
            </a:r>
            <a:r>
              <a:rPr lang="en-US" dirty="0"/>
              <a:t>-</a:t>
            </a:r>
            <a:r>
              <a:rPr lang="ru-RU" dirty="0"/>
              <a:t> нуди брзина, едноставност и работа во реално време со минимални ресурси и анотации.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U-Net </a:t>
            </a:r>
            <a:r>
              <a:rPr lang="en-US" dirty="0"/>
              <a:t>- </a:t>
            </a:r>
            <a:r>
              <a:rPr lang="ru-RU" dirty="0"/>
              <a:t>висока прецизност во сложени сценарија, со цена на повисоки ресурси и потреба од анотирани податоци.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IoU и F1 метриките се попрецизни индикатори од Pixel Accuracy поради небаланс на класите</a:t>
            </a:r>
            <a:r>
              <a:rPr lang="en-US" dirty="0"/>
              <a:t>.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Најдобар пристап за продукција е хибридно решение: OpenCV за геометрија и ROI, U-Net за сегментација.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Пост-процесирање за временска стабилизација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Проектот овозможува модуларна архитектура, </a:t>
            </a:r>
            <a:br>
              <a:rPr lang="ru-RU" dirty="0"/>
            </a:br>
            <a:r>
              <a:rPr lang="ru-RU" dirty="0"/>
              <a:t>скрипти за подготовка, тренинг и инференција, </a:t>
            </a:r>
            <a:br>
              <a:rPr lang="ru-RU" dirty="0"/>
            </a:br>
            <a:r>
              <a:rPr lang="ru-RU" dirty="0"/>
              <a:t>и визуелизации во реално време.</a:t>
            </a:r>
            <a:br>
              <a:rPr lang="ru-RU" dirty="0"/>
            </a:b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dirty="0"/>
              <a:t>Идна работа: </a:t>
            </a:r>
            <a:r>
              <a:rPr lang="ru-RU" dirty="0"/>
              <a:t>проширување на датасетот </a:t>
            </a:r>
            <a:br>
              <a:rPr lang="ru-RU" dirty="0"/>
            </a:br>
            <a:r>
              <a:rPr lang="ru-RU" dirty="0"/>
              <a:t>(ноќни/влажни услови), fine-tuning на моделот </a:t>
            </a:r>
            <a:br>
              <a:rPr lang="ru-RU" dirty="0"/>
            </a:br>
            <a:r>
              <a:rPr lang="ru-RU" dirty="0"/>
              <a:t>за таргетиран домен, додавање временски модели. </a:t>
            </a:r>
            <a:br>
              <a:rPr lang="ru-RU" dirty="0"/>
            </a:br>
            <a:r>
              <a:rPr lang="ru-RU" dirty="0"/>
              <a:t>Комбинацијата на двата пристапи обезбедува </a:t>
            </a:r>
            <a:br>
              <a:rPr lang="ru-RU" dirty="0"/>
            </a:br>
            <a:r>
              <a:rPr lang="ru-RU" dirty="0"/>
              <a:t>рамнотежа меѓу брзина, точност и стабилност, </a:t>
            </a:r>
            <a:br>
              <a:rPr lang="ru-RU" dirty="0"/>
            </a:br>
            <a:r>
              <a:rPr lang="ru-RU" dirty="0"/>
              <a:t>што е клучно за реални системи.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04C905-AA60-DFAE-3229-C699B71716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59570" y="3909213"/>
            <a:ext cx="2532357" cy="28010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6866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462C5-AA13-FD3D-8635-E9B824A84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528A785-A5C3-836C-CA7F-917B08F98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CA573D-6DCC-3940-A4F4-386CF094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sz="800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09DC59-4F0B-E8E7-DFF8-763958A91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DC9A4F5-39B5-BD69-9DDB-CD6AE157F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34C6D37-75E0-BC1A-723D-C1D39DDDB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CA794DE-9F29-9BB3-A894-400BAEA2D1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7D30961-C14B-63E4-2931-8F01D60EA8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4E2BAD2-CC11-39A3-5C04-3BE70AFFC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837DCAC-77C3-0E2D-AE6D-E3714287E8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8CE690E-B3E3-45F1-7803-7C5645284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433B055-DD57-BCD6-B63B-861C9CFC3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03BC7DC-3442-7BC8-1E87-CBE4230A8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k-MK" noProof="0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D8E5D6D-A0DB-DFC8-E577-BAFD800C4EC7}"/>
              </a:ext>
            </a:extLst>
          </p:cNvPr>
          <p:cNvSpPr txBox="1"/>
          <p:nvPr/>
        </p:nvSpPr>
        <p:spPr>
          <a:xfrm>
            <a:off x="787395" y="1177444"/>
            <a:ext cx="2727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Податоци и претпроцесирање</a:t>
            </a:r>
          </a:p>
        </p:txBody>
      </p:sp>
      <p:pic>
        <p:nvPicPr>
          <p:cNvPr id="6" name="Graphic 5" descr="Lightbulb and gear with solid fill">
            <a:extLst>
              <a:ext uri="{FF2B5EF4-FFF2-40B4-BE49-F238E27FC236}">
                <a16:creationId xmlns:a16="http://schemas.microsoft.com/office/drawing/2014/main" id="{19700265-7D0E-F2C7-8054-B1B62B00D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279" y="443972"/>
            <a:ext cx="495426" cy="4954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F506C-ED00-9DFA-5483-7A8045632896}"/>
              </a:ext>
            </a:extLst>
          </p:cNvPr>
          <p:cNvSpPr txBox="1"/>
          <p:nvPr/>
        </p:nvSpPr>
        <p:spPr>
          <a:xfrm>
            <a:off x="751157" y="532832"/>
            <a:ext cx="2549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Вовед и мотивација</a:t>
            </a:r>
          </a:p>
        </p:txBody>
      </p:sp>
      <p:pic>
        <p:nvPicPr>
          <p:cNvPr id="11" name="Graphic 10" descr="Folder Search with solid fill">
            <a:extLst>
              <a:ext uri="{FF2B5EF4-FFF2-40B4-BE49-F238E27FC236}">
                <a16:creationId xmlns:a16="http://schemas.microsoft.com/office/drawing/2014/main" id="{6E3CA9B2-8307-47FE-714B-AC3B320B27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537" y="1196581"/>
            <a:ext cx="550910" cy="55091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7E82A7C-396F-A912-CCFA-CDC72A4C713A}"/>
              </a:ext>
            </a:extLst>
          </p:cNvPr>
          <p:cNvSpPr txBox="1"/>
          <p:nvPr/>
        </p:nvSpPr>
        <p:spPr>
          <a:xfrm>
            <a:off x="735442" y="1882794"/>
            <a:ext cx="2831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Методи: OpenCV pipeline и U-Net</a:t>
            </a:r>
          </a:p>
        </p:txBody>
      </p:sp>
      <p:pic>
        <p:nvPicPr>
          <p:cNvPr id="26" name="Graphic 25" descr="Circles with arrows outline">
            <a:extLst>
              <a:ext uri="{FF2B5EF4-FFF2-40B4-BE49-F238E27FC236}">
                <a16:creationId xmlns:a16="http://schemas.microsoft.com/office/drawing/2014/main" id="{B965BE2B-3F49-19CB-5079-768E1C63B1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638" y="1876393"/>
            <a:ext cx="550910" cy="55091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A2169CC-ED66-B709-A737-8268986548E9}"/>
              </a:ext>
            </a:extLst>
          </p:cNvPr>
          <p:cNvSpPr txBox="1"/>
          <p:nvPr/>
        </p:nvSpPr>
        <p:spPr>
          <a:xfrm>
            <a:off x="686660" y="2775028"/>
            <a:ext cx="2880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mk-MK" sz="1600" noProof="0" dirty="0">
                <a:solidFill>
                  <a:schemeClr val="bg2">
                    <a:lumMod val="50000"/>
                  </a:schemeClr>
                </a:solidFill>
              </a:rPr>
              <a:t>Метрики и експерименти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C5D73B-BF23-3C99-8289-0F5B2D6CC272}"/>
              </a:ext>
            </a:extLst>
          </p:cNvPr>
          <p:cNvSpPr txBox="1"/>
          <p:nvPr/>
        </p:nvSpPr>
        <p:spPr>
          <a:xfrm>
            <a:off x="802530" y="3384188"/>
            <a:ext cx="289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1600" noProof="0" dirty="0"/>
              <a:t>Дискусија, заклучок и идни насоки</a:t>
            </a:r>
          </a:p>
        </p:txBody>
      </p:sp>
      <p:pic>
        <p:nvPicPr>
          <p:cNvPr id="31" name="Graphic 30" descr="Flask outline">
            <a:extLst>
              <a:ext uri="{FF2B5EF4-FFF2-40B4-BE49-F238E27FC236}">
                <a16:creationId xmlns:a16="http://schemas.microsoft.com/office/drawing/2014/main" id="{01613B32-D613-4AF7-3173-A5963D22D0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2687" y="2594292"/>
            <a:ext cx="614708" cy="614708"/>
          </a:xfrm>
          <a:prstGeom prst="rect">
            <a:avLst/>
          </a:prstGeom>
        </p:spPr>
      </p:pic>
      <p:pic>
        <p:nvPicPr>
          <p:cNvPr id="33" name="Graphic 32" descr="Storytelling with solid fill">
            <a:extLst>
              <a:ext uri="{FF2B5EF4-FFF2-40B4-BE49-F238E27FC236}">
                <a16:creationId xmlns:a16="http://schemas.microsoft.com/office/drawing/2014/main" id="{362D367B-9D19-50CC-1C28-EB87327718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5055" y="3372517"/>
            <a:ext cx="430387" cy="430387"/>
          </a:xfrm>
          <a:prstGeom prst="rect">
            <a:avLst/>
          </a:prstGeom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14D424D-F242-3190-0D77-4264A5B38F16}"/>
              </a:ext>
            </a:extLst>
          </p:cNvPr>
          <p:cNvSpPr/>
          <p:nvPr/>
        </p:nvSpPr>
        <p:spPr>
          <a:xfrm>
            <a:off x="190739" y="3248071"/>
            <a:ext cx="3470787" cy="8129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k-MK" noProof="0" dirty="0"/>
          </a:p>
        </p:txBody>
      </p:sp>
      <p:graphicFrame>
        <p:nvGraphicFramePr>
          <p:cNvPr id="2" name="TextBox 2">
            <a:extLst>
              <a:ext uri="{FF2B5EF4-FFF2-40B4-BE49-F238E27FC236}">
                <a16:creationId xmlns:a16="http://schemas.microsoft.com/office/drawing/2014/main" id="{B6BAD303-9C97-F6E0-5202-FB2604A7C0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7611167"/>
              </p:ext>
            </p:extLst>
          </p:nvPr>
        </p:nvGraphicFramePr>
        <p:xfrm>
          <a:off x="6891246" y="1103730"/>
          <a:ext cx="6465946" cy="4890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pic>
        <p:nvPicPr>
          <p:cNvPr id="34" name="Picture 33">
            <a:extLst>
              <a:ext uri="{FF2B5EF4-FFF2-40B4-BE49-F238E27FC236}">
                <a16:creationId xmlns:a16="http://schemas.microsoft.com/office/drawing/2014/main" id="{CDFF71A1-F298-2F21-C8F1-52278EA3223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32182" y="871386"/>
            <a:ext cx="4124560" cy="54223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5972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</TotalTime>
  <Words>1139</Words>
  <Application>Microsoft Office PowerPoint</Application>
  <PresentationFormat>Widescreen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Efimija C</dc:creator>
  <cp:keywords/>
  <dc:description>generated using python-pptx</dc:description>
  <cp:lastModifiedBy>Цунева Ефимија</cp:lastModifiedBy>
  <cp:revision>13</cp:revision>
  <dcterms:created xsi:type="dcterms:W3CDTF">2013-01-27T09:14:16Z</dcterms:created>
  <dcterms:modified xsi:type="dcterms:W3CDTF">2025-09-11T18:35:22Z</dcterms:modified>
  <cp:category/>
</cp:coreProperties>
</file>